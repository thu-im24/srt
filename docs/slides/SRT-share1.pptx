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6.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64" r:id="rId10"/>
    <p:sldId id="257" r:id="rId3"/>
    <p:sldId id="273" r:id="rId19"/>
    <p:sldId id="286" r:id="rId37"/>
    <p:sldId id="259" r:id="rId5"/>
    <p:sldId id="287" r:id="rId38"/>
    <p:sldId id="288" r:id="rId39"/>
    <p:sldId id="289" r:id="rId40"/>
    <p:sldId id="290" r:id="rId41"/>
    <p:sldId id="263" r:id="rId9"/>
    <p:sldId id="285" r:id="rId31"/>
    <p:sldId id="291" r:id="rId42"/>
    <p:sldId id="292" r:id="rId43"/>
    <p:sldId id="293" r:id="rId44"/>
    <p:sldId id="281" r:id="rId27"/>
  </p:sld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9" Type="http://schemas.openxmlformats.org/officeDocument/2006/relationships/slide" Target="slides/slide8.xml"/><Relationship Id="rId10" Type="http://schemas.openxmlformats.org/officeDocument/2006/relationships/slide" Target="slides/slide9.xml"/><Relationship Id="rId19" Type="http://schemas.openxmlformats.org/officeDocument/2006/relationships/slide" Target="slides/slide18.xml"/><Relationship Id="rId27" Type="http://schemas.openxmlformats.org/officeDocument/2006/relationships/slide" Target="slides/slide26.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封面：Moltbook / LLM agent 社区相关文献介绍（SRT，THU-IM24）。</a:t>
            </a:r>
          </a:p>
          <a:p>
            <a:r>
              <a:rPr lang="zh-CN"/>
              <a:t>文献清单：https://github.com/THU-IM24/SRT/tree/main/docs/papers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Paper 1 背景与研究问题。研究对象为 Chirper 上的 LLM-based Autonomous Agents (LLMAAs)。</a:t>
            </a:r>
          </a:p>
          <a:p>
            <a:r>
              <a:rPr lang="zh-CN"/>
              <a:t>假设 H1 小世界、H2 幂律度分布、H3a/H3b 资料/内容同质性，出自论文第 3 节。</a:t>
            </a:r>
          </a:p>
          <a:p>
            <a:r>
              <a:rPr lang="zh-CN"/>
              <a:t>来源：https://doi.org/10.1016/j.dim.2025.100107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P1 图表与公式：Fig. 1–13、Table 1–3 来自论文；Eq. 1 P(x)∝x^-α，Eq. 2 A(k)=m2(k)/n1(k) 为论文原式。有向全局效率与余弦相似度的写法是按论文文字描述给出的标准定义；小世界判据按论文所引 Watts &amp; Strogatz (1998)。</a:t>
            </a:r>
          </a:p>
          <a:p>
            <a:r>
              <a:rPr lang="zh-CN"/>
              <a:t>来源：Chen, Wang, Ren (2026), Data and Information Management 10, 100107. https://doi.org/10.1016/j.dim.2025.100107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P3 主要发现：互惠率 3.3%（§5.3）；85.6% 扁平线程、91.4% 发帖者不回帖（Table 3）；97.3% 评论零点赞（Table 4）；64.55% 无论证关系（Table 5）；92.5% 社区为大杂烩（Table 8）；E3 新号首日行为 −88%（Table 11）；硬约束 vs 软引导、可修复 vs 模型驱动（§7.3、§10）。</a:t>
            </a:r>
          </a:p>
          <a:p>
            <a:r>
              <a:rPr lang="zh-CN"/>
              <a:t>来源：Zerhoudi et al., arXiv:2604.13052, https://arxiv.org/abs/2604.13052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四篇文献概览（机构与发表状态均按论文页面核对）。</a:t>
            </a:r>
          </a:p>
          <a:p>
            <a:r>
              <a:rPr lang="zh-CN"/>
              <a:t>P1 https://doi.org/10.1016/j.dim.2025.100107 ; https://www.sciencedirect.com/science/article/pii/S2543925125000154</a:t>
            </a:r>
          </a:p>
          <a:p>
            <a:r>
              <a:rPr lang="zh-CN"/>
              <a:t>P2 https://doi.org/10.1007/978-3-032-07715-8_2 （PDF 首页：Carnegie Mellon University）</a:t>
            </a:r>
          </a:p>
          <a:p>
            <a:r>
              <a:rPr lang="zh-CN"/>
              <a:t>P3 https://arxiv.org/abs/2604.13052</a:t>
            </a:r>
          </a:p>
          <a:p>
            <a:r>
              <a:rPr lang="zh-CN"/>
              <a:t>P4 https://arxiv.org/abs/2602.09270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P1 数据：论文第 4.1 节（Chirper 数据集 2023 年 4–6 月；英文 20,814、中文 11,288 账号；26,369 节点、113,236 条有向边、3,884 自环、密度 0.000163、平均入/出度 4.29、最大边权 46）。</a:t>
            </a:r>
          </a:p>
          <a:p>
            <a:r>
              <a:rPr lang="zh-CN"/>
              <a:t>来源：Chen, Wang, Ren (2026), Data and Information Management 10, 100107. https://doi.org/10.1016/j.dim.2025.100107</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P4 结论：摘要、§2.3 与附录 A（β≈0.79，H1–H4 被排除）、§2.4（深度中位数 3）、§2.5（−1.23、−1.35）、§2.1（150 万注册，184,909 活跃，约 12%）、§3 局限。</a:t>
            </a:r>
          </a:p>
          <a:p>
            <a:r>
              <a:rPr lang="zh-CN"/>
              <a:t>来源：De Marzo, Marin, Garcia, Collective Behavior of AI Agents: the Case of Moltbook, arXiv:2602.09270（当前版本，数据至 2026-10-06）。https://arxiv.org/abs/2602.09270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97.9%：P3 Table 6 与 §6.1（community alignment: zero = 97.9%；中位数 0%）。对照：P1 §5.3.1 英文子频道 bio 相似度 0.2371 vs 0.2122（Wilcoxon 显著）。</a:t>
            </a:r>
          </a:p>
          <a:p>
            <a:r>
              <a:rPr lang="zh-CN"/>
              <a:t>来源：Zerhoudi et al., arXiv:2604.13052, https://arxiv.org/abs/2604.13052</a:t>
            </a:r>
          </a:p>
          <a:p>
            <a:r>
              <a:rPr lang="zh-CN"/>
              <a:t>P1：https://doi.org/10.1016/j.dim.2025.100107</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P1 方法：论文第 4.2 节（SNA：LSCC 平均最短路径与聚类系数、有向全局效率、有向聚类系数 Fagiolo 2007；Clauset 2009 幂律拟合、poweRlaw、K-S、5000 bootstrap；bi-epochal 优先连接）与 4.3 节（Doc2Vec 50 维、BERTopic、all-MiniLM-L6-v2 / bert-base-chinese、UMAP、HDBSCAN、余弦相似度、度保持随机重连 + Wilcoxon 秩和检验）。</a:t>
            </a:r>
          </a:p>
          <a:p>
            <a:r>
              <a:rPr lang="zh-CN"/>
              <a:t>来源：Chen, Wang, Ren (2026), Data and Information Management 10, 100107. https://doi.org/10.1016/j.dim.2025.100107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P1 主要发现，数字来自论文 Table 1、第 5.1–5.3 节：LSCC 占 39.12% 节点；总体网络 LSCC 平均最短路径 5.6685（随机 4.8681），平均聚类系数 0.0426（随机 0.0007），有向全局效率 0.1844（随机 0.1543）；入度 α̂=2.297（x_min=7, p=0.42），出度 α̂=6.367（x_min=70, p=0.52）；英文子频道资料相似度 0.2371 vs 0.2122、内容相似度 0.2063 vs 0.0627（Wilcoxon 显著）；中文子频道 0.5806 vs 0.5796、0.7923 vs 0.7901，不显著。</a:t>
            </a:r>
          </a:p>
          <a:p>
            <a:r>
              <a:rPr lang="zh-CN"/>
              <a:t>来源：https://doi.org/10.1016/j.dim.2025.100107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P3 背景与数据：论文摘要、第 1 节与第 3 节（Table 1 Dataset overview）。原始抓取 6,706,016 条评论，去重后 6,691,460。</a:t>
            </a:r>
          </a:p>
          <a:p>
            <a:r>
              <a:rPr lang="zh-CN"/>
              <a:t>来源：Zerhoudi et al., Form Without Function: Agent Social Behavior in the Moltbook Network, arXiv:2604.13052, https://arxiv.org/abs/2604.13052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P3 三层框架：论文第 4.1 节（interaction / content / instruction layers）与第 4.2 节（technological risks and toxicity）；论证关系分类器为 Ruiz-Dolz et al. (2021) 的微调 RoBERTa（第 5.3 节）；13 类主题与 Shannon 熵见第 6.2 节；41 个 Wayback 快照与 6 次指令变更见第 7.1 节。</a:t>
            </a:r>
          </a:p>
          <a:p>
            <a:r>
              <a:rPr lang="zh-CN"/>
              <a:t>来源：Zerhoudi et al., Form Without Function: Agent Social Behavior in the Moltbook Network, arXiv:2604.13052, https://arxiv.org/abs/2604.13052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P3 图表与指标：Fig. 1–18、Table 1–18 来自论文。论文没有写出公式，五个公式都是补充的标准定义（幻灯片上以 * 标注）：互惠率按“反向边也存在的有向对占比”写，论文给出 1,151,825 个有向对中 18,855 对互惠、互惠率 3.3%（2×18,855/1,151,825≈3.3%，即每对互惠计两条有向边，此换算为本页推断）；Jaccard 为 unigram（§5.1、§6.1）；Shannon 熵阈值 H&lt;1.0 / H≥2.0 来自 Table 8，对数底数论文未说明；Gini 0.779 / 0.935 来自 Fig. 6 图注；前后对比窗口为 7 天（E6 后 4 天），来自 Table 10。论文另用变异系数 CV 与 K-S 检验（D=0.42）。</a:t>
            </a:r>
          </a:p>
          <a:p>
            <a:r>
              <a:rPr lang="zh-CN"/>
              <a:t>来源：Zerhoudi et al., arXiv:2604.13052, https://arxiv.org/abs/2604.13052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P2 方法：论文第 1–2 节（研究问题、SynSM、GPT-4.1-mini temperature 0、AuraSight、169 个手工人设、PA 互动）与第 3 节（45,745 智能体、77,037 推文、Tiny-BotBuster、约 2 亿用户 / 50 亿推文的 wild 数据、PA 比例 100% / 70+30 / 60+30+10、三种提示方案）。</a:t>
            </a:r>
          </a:p>
          <a:p>
            <a:r>
              <a:rPr lang="zh-CN"/>
              <a:t>来源：Ng &amp; Carley, Are LLM-Powered Social Media Bots Realistic?, SBP-BRiMS 2025, LNCS 16127, pp. 14–23. https://doi.org/10.1007/978-3-032-07715-8_2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P2 结论：第 3 节、Table 1–2、第 4 节。Bot likeliness 0.36±0.43；1st person pronouns 1.38 vs 0.71/0.73；reading difficulty 0.05 vs 0.12/0.10。提示方案平均提升：正文写 examples +0.26±0.27，Table 2 写 0.25±0.27，论文内部不一致，幻灯片只写“加示例效果最好”。</a:t>
            </a:r>
          </a:p>
          <a:p>
            <a:r>
              <a:rPr lang="zh-CN"/>
              <a:t>来源：Ng &amp; Carley, Are LLM-Powered Social Media Bots Realistic?, SBP-BRiMS 2025, LNCS 16127, pp. 14–23. https://doi.org/10.1007/978-3-032-07715-8_2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t>P4 方法：§2.1、§4.1–4.4。公式中只有 γ(t) 是论文 Eq. (1)；深度–宽度式为论文拟合关系；p(x)∝x^-α、CCDF 斜率 α−1、⟨u⟩∝n^β 是补充的标准写法（幻灯片以 * 标注）。指数：α=2.22 / 1.54 / 2.40，β≈0.79 / 1.03，γ 指数 −1.23（§2.2–2.5）。</a:t>
            </a:r>
          </a:p>
          <a:p>
            <a:r>
              <a:rPr lang="zh-CN"/>
              <a:t>来源：De Marzo, Marin, Garcia, Collective Behavior of AI Agents: the Case of Moltbook, arXiv:2602.09270（当前版本，数据至 2026-10-06）。https://arxiv.org/abs/2602.09270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G2eq1" Type="http://schemas.openxmlformats.org/officeDocument/2006/relationships/image" Target="../media/g2_eq1.png"/><Relationship Id="rIdG2eq2" Type="http://schemas.openxmlformats.org/officeDocument/2006/relationships/image" Target="../media/g2_eq2.png"/><Relationship Id="rIdG2eq3" Type="http://schemas.openxmlformats.org/officeDocument/2006/relationships/image" Target="../media/g2_eq3.png"/><Relationship Id="rIdG2eq4" Type="http://schemas.openxmlformats.org/officeDocument/2006/relationships/image" Target="../media/g2_eq4.png"/><Relationship Id="rIdG2eq5" Type="http://schemas.openxmlformats.org/officeDocument/2006/relationships/image" Target="../media/g2_eq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G4p3eq1" Type="http://schemas.openxmlformats.org/officeDocument/2006/relationships/image" Target="../media/g4_p3eq1.png"/><Relationship Id="rIdG4p3eq2" Type="http://schemas.openxmlformats.org/officeDocument/2006/relationships/image" Target="../media/g4_p3eq2.png"/><Relationship Id="rIdG4p3eq3" Type="http://schemas.openxmlformats.org/officeDocument/2006/relationships/image" Target="../media/g4_p3eq3.png"/><Relationship Id="rIdG4p3eq4" Type="http://schemas.openxmlformats.org/officeDocument/2006/relationships/image" Target="../media/g4_p3eq4.png"/><Relationship Id="rIdG4p3eq5" Type="http://schemas.openxmlformats.org/officeDocument/2006/relationships/image" Target="../media/g4_p3eq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G5p4eq1" Type="http://schemas.openxmlformats.org/officeDocument/2006/relationships/image" Target="../media/g5_p4eq1.png"/><Relationship Id="rIdG5p4eq2" Type="http://schemas.openxmlformats.org/officeDocument/2006/relationships/image" Target="../media/g5_p4eq2.png"/><Relationship Id="rIdG5p4eq3" Type="http://schemas.openxmlformats.org/officeDocument/2006/relationships/image" Target="../media/g5_p4eq3.png"/><Relationship Id="rIdG5p4eq4" Type="http://schemas.openxmlformats.org/officeDocument/2006/relationships/image" Target="../media/g5_p4eq4.png"/><Relationship Id="rIdG5p4eq5" Type="http://schemas.openxmlformats.org/officeDocument/2006/relationships/image" Target="../media/g5_p4eq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385462" y="1581912"/>
            <a:ext cx="3420770" cy="2926080"/>
          </a:xfrm>
          <a:prstGeom prst="rect">
            <a:avLst/>
          </a:prstGeom>
          <a:ln/>
        </p:spPr>
      </p:sp>
      <p:sp>
        <p:nvSpPr>
          <p:cNvPr id="3" name="Text 1"/>
          <p:cNvSpPr/>
          <p:nvPr/>
        </p:nvSpPr>
        <p:spPr>
          <a:xfrm>
            <a:off x="822960" y="2148840"/>
            <a:ext cx="10545775" cy="2651760"/>
          </a:xfrm>
          <a:prstGeom prst="rect">
            <a:avLst/>
          </a:prstGeom>
          <a:noFill/>
          <a:ln/>
        </p:spPr>
        <p:txBody>
          <a:bodyPr wrap="square" lIns="91440" tIns="45720" rIns="91440" bIns="45720" rtlCol="0" anchor="t"/>
          <a:lstStyle/>
          <a:p>
            <a:pPr algn="ctr" indent="0" marL="0">
              <a:buNone/>
            </a:pPr>
            <a:r>
              <a:rPr lang="en-US" sz="5400" spc="300" kern="0" dirty="0">
                <a:solidFill>
                  <a:srgbClr val="0D0D0D"/>
                </a:solidFill>
                <a:latin typeface="Noto Sans SC" pitchFamily="34" charset="0"/>
                <a:ea typeface="Noto Sans SC" pitchFamily="34" charset="-122"/>
                <a:cs typeface="Noto Sans SC" pitchFamily="34" charset="-120"/>
              </a:rPr>
              <a:t>Moltbook / LLM agent</a:t>
            </a:r>
          </a:p>
          <a:p>
            <a:pPr algn="ctr" indent="0" marL="0">
              <a:buNone/>
            </a:pPr>
            <a:r>
              <a:rPr lang="en-US" sz="5400" spc="300" kern="0" dirty="0">
                <a:solidFill>
                  <a:srgbClr val="0D0D0D"/>
                </a:solidFill>
                <a:latin typeface="Noto Sans SC" pitchFamily="34" charset="0"/>
                <a:ea typeface="Noto Sans SC" pitchFamily="34" charset="-122"/>
                <a:cs typeface="Noto Sans SC" pitchFamily="34" charset="-120"/>
              </a:rPr>
              <a:t>社区相关文献介绍</a:t>
            </a:r>
          </a:p>
          <a:p>
            <a:pPr algn="ctr" indent="0" marL="0">
              <a:spcBef>
                <a:spcPts val="1800"/>
              </a:spcBef>
              <a:buNone/>
            </a:pPr>
            <a:r>
              <a:rPr lang="en-US" sz="1800" spc="0" kern="0" dirty="0">
                <a:solidFill>
                  <a:srgbClr val="595959"/>
                </a:solidFill>
                <a:latin typeface="Noto Sans SC" pitchFamily="34" charset="0"/>
                <a:ea typeface="Noto Sans SC" pitchFamily="34" charset="-122"/>
                <a:cs typeface="Noto Sans SC" pitchFamily="34" charset="-120"/>
              </a:rPr>
              <a:t>SRT 项目 · THU-IM24 · 四篇文献内部研讨</a:t>
            </a:r>
          </a:p>
        </p:txBody>
      </p:sp>
      <p:sp>
        <p:nvSpPr>
          <p:cNvPr id="4" name="Text 2"/>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5" name="Text 3"/>
          <p:cNvSpPr/>
          <p:nvPr/>
        </p:nvSpPr>
        <p:spPr>
          <a:xfrm>
            <a:off x="753466" y="6187653"/>
            <a:ext cx="1933042" cy="245974"/>
          </a:xfrm>
          <a:prstGeom prst="rect">
            <a:avLst/>
          </a:prstGeom>
          <a:noFill/>
          <a:ln/>
        </p:spPr>
        <p:txBody>
          <a:bodyPr wrap="square" lIns="91440" tIns="45720" rIns="91440" bIns="45720" rtlCol="0" anchor="t"/>
          <a:lstStyle/>
          <a:p>
            <a:pPr indent="0" marL="0">
              <a:buNone/>
            </a:pPr>
            <a:r>
              <a:rPr lang="en-US" sz="1000" b="1" dirty="0">
                <a:solidFill>
                  <a:srgbClr val="404040"/>
                </a:solidFill>
                <a:latin typeface="Noto Sans SC" pitchFamily="34" charset="0"/>
                <a:ea typeface="Noto Sans SC" pitchFamily="34" charset="-122"/>
                <a:cs typeface="Noto Sans SC" pitchFamily="34" charset="-120"/>
              </a:rPr>
              <a:t>论文</a:t>
            </a:r>
            <a:r>
              <a:rPr lang="en-US" sz="1000" dirty="0">
                <a:solidFill>
                  <a:srgbClr val="404040"/>
                </a:solidFill>
                <a:latin typeface="Noto Sans SC" pitchFamily="34" charset="0"/>
                <a:ea typeface="Noto Sans SC" pitchFamily="34" charset="-122"/>
                <a:cs typeface="Noto Sans SC" pitchFamily="34" charset="-120"/>
              </a:rPr>
              <a:t> 研讨</a:t>
            </a:r>
            <a:endParaRPr lang="en-US" sz="1000" dirty="0"/>
          </a:p>
        </p:txBody>
      </p:sp>
      <p:sp>
        <p:nvSpPr>
          <p:cNvPr id="6" name="Shape 4"/>
          <p:cNvSpPr/>
          <p:nvPr/>
        </p:nvSpPr>
        <p:spPr>
          <a:xfrm>
            <a:off x="2034814" y="6320790"/>
            <a:ext cx="445770" cy="0"/>
          </a:xfrm>
          <a:prstGeom prst="line">
            <a:avLst/>
          </a:prstGeom>
          <a:noFill/>
          <a:ln w="12700">
            <a:solidFill>
              <a:srgbClr val="0D0D0D"/>
            </a:solidFill>
            <a:prstDash val="solid"/>
          </a:ln>
        </p:spPr>
      </p:sp>
      <p:sp>
        <p:nvSpPr>
          <p:cNvPr id="7" name="Text 5"/>
          <p:cNvSpPr/>
          <p:nvPr/>
        </p:nvSpPr>
        <p:spPr>
          <a:xfrm>
            <a:off x="2400574" y="6197712"/>
            <a:ext cx="806501" cy="245974"/>
          </a:xfrm>
          <a:prstGeom prst="rect">
            <a:avLst/>
          </a:prstGeom>
          <a:noFill/>
          <a:ln/>
        </p:spPr>
        <p:txBody>
          <a:bodyPr wrap="square" lIns="91440" tIns="45720" rIns="91440" bIns="45720" rtlCol="0" anchor="t"/>
          <a:lstStyle/>
          <a:p>
            <a:pPr algn="r" indent="0" marL="0">
              <a:buNone/>
            </a:pPr>
            <a:r>
              <a:rPr lang="en-US" sz="1000" dirty="0">
                <a:solidFill>
                  <a:srgbClr val="102C57"/>
                </a:solidFill>
                <a:latin typeface="Noto Sans SC" pitchFamily="34" charset="0"/>
                <a:ea typeface="Noto Sans SC" pitchFamily="34" charset="-122"/>
                <a:cs typeface="Noto Sans SC" pitchFamily="34" charset="-120"/>
              </a:rPr>
              <a:t>共 16 页</a:t>
            </a:r>
          </a:p>
        </p:txBody>
      </p:sp>
      <p:sp>
        <p:nvSpPr>
          <p:cNvPr id="8" name="Text 6"/>
          <p:cNvSpPr/>
          <p:nvPr/>
        </p:nvSpPr>
        <p:spPr>
          <a:xfrm>
            <a:off x="10515600" y="6187653"/>
            <a:ext cx="1008949" cy="245974"/>
          </a:xfrm>
          <a:prstGeom prst="rect">
            <a:avLst/>
          </a:prstGeom>
          <a:noFill/>
          <a:ln/>
        </p:spPr>
        <p:txBody>
          <a:bodyPr wrap="square" lIns="91440" tIns="45720" rIns="91440" bIns="45720" rtlCol="0" anchor="t"/>
          <a:lstStyle/>
          <a:p>
            <a:pPr algn="r" indent="0" marL="0">
              <a:buNone/>
            </a:pPr>
            <a:r>
              <a:rPr lang="en-US" sz="1000" b="1" dirty="0">
                <a:solidFill>
                  <a:srgbClr val="102C57"/>
                </a:solidFill>
                <a:latin typeface="Noto Sans SC" pitchFamily="34" charset="0"/>
                <a:ea typeface="Noto Sans SC" pitchFamily="34" charset="-122"/>
                <a:cs typeface="Noto Sans SC" pitchFamily="34" charset="-120"/>
              </a:rPr>
              <a:t>第</a:t>
            </a:r>
            <a:r>
              <a:rPr lang="en-US" sz="1000" b="1" dirty="0">
                <a:solidFill>
                  <a:srgbClr val="808080"/>
                </a:solidFill>
                <a:latin typeface="Noto Sans SC" pitchFamily="34" charset="0"/>
                <a:ea typeface="Noto Sans SC" pitchFamily="34" charset="-122"/>
                <a:cs typeface="Noto Sans SC" pitchFamily="34" charset="-120"/>
              </a:rPr>
              <a:t> </a:t>
            </a:r>
            <a:r>
              <a:rPr lang="en-US" sz="1000" dirty="0">
                <a:solidFill>
                  <a:srgbClr val="808080"/>
                </a:solidFill>
                <a:latin typeface="Noto Sans SC" pitchFamily="34" charset="0"/>
                <a:ea typeface="Noto Sans SC" pitchFamily="34" charset="-122"/>
                <a:cs typeface="Noto Sans SC" pitchFamily="34" charset="-120"/>
              </a:rPr>
              <a:t>01/16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227625" cy="6858000"/>
          </a:xfrm>
          <a:prstGeom prst="rect">
            <a:avLst/>
          </a:prstGeom>
          <a:ln/>
        </p:spPr>
      </p:sp>
      <p:sp>
        <p:nvSpPr>
          <p:cNvPr id="3" name="Text 1"/>
          <p:cNvSpPr/>
          <p:nvPr/>
        </p:nvSpPr>
        <p:spPr>
          <a:xfrm>
            <a:off x="6437376" y="1097280"/>
            <a:ext cx="5120640" cy="777240"/>
          </a:xfrm>
          <a:prstGeom prst="rect">
            <a:avLst/>
          </a:prstGeom>
          <a:noFill/>
          <a:ln/>
        </p:spPr>
        <p:txBody>
          <a:bodyPr wrap="square" lIns="91440" tIns="45720" rIns="91440" bIns="45720" rtlCol="0" anchor="t"/>
          <a:lstStyle/>
          <a:p>
            <a:pPr algn="l" indent="0" marL="0">
              <a:buNone/>
            </a:pPr>
            <a:r>
              <a:rPr lang="en-US" sz="4000" dirty="0">
                <a:solidFill>
                  <a:srgbClr val="0D0D0D"/>
                </a:solidFill>
                <a:latin typeface="Noto Sans SC" pitchFamily="34" charset="0"/>
                <a:ea typeface="Noto Sans SC" pitchFamily="34" charset="-122"/>
                <a:cs typeface="Noto Sans SC" pitchFamily="34" charset="-120"/>
              </a:rPr>
              <a:t>背景与研究问题</a:t>
            </a:r>
          </a:p>
        </p:txBody>
      </p:sp>
      <p:sp>
        <p:nvSpPr>
          <p:cNvPr id="4" name="Text 2"/>
          <p:cNvSpPr/>
          <p:nvPr/>
        </p:nvSpPr>
        <p:spPr>
          <a:xfrm>
            <a:off x="6473952" y="1965960"/>
            <a:ext cx="5029200" cy="1097280"/>
          </a:xfrm>
          <a:prstGeom prst="rect">
            <a:avLst/>
          </a:prstGeom>
          <a:noFill/>
          <a:ln/>
        </p:spPr>
        <p:txBody>
          <a:bodyPr wrap="square" lIns="91440" tIns="45720" rIns="91440" bIns="45720" rtlCol="0" anchor="t"/>
          <a:lstStyle/>
          <a:p>
            <a:pPr algn="l" indent="0" marL="0">
              <a:lnSpc>
                <a:spcPct val="150000"/>
              </a:lnSpc>
              <a:buNone/>
            </a:pPr>
            <a:r>
              <a:rPr lang="en-US" sz="1400" dirty="0">
                <a:solidFill>
                  <a:srgbClr val="404040"/>
                </a:solidFill>
                <a:latin typeface="Noto Sans SC" pitchFamily="34" charset="0"/>
                <a:ea typeface="Noto Sans SC" pitchFamily="34" charset="-122"/>
                <a:cs typeface="Noto Sans SC" pitchFamily="34" charset="-120"/>
              </a:rPr>
              <a:t>LLM 自主智能体（LLMAAs）能力越来越强，但已有研究多看单个智能体或人机协作；大量智能体彼此互动时会涌现怎样的集体行为，还缺少实证。</a:t>
            </a:r>
          </a:p>
        </p:txBody>
      </p:sp>
      <p:sp>
        <p:nvSpPr>
          <p:cNvPr id="5" name="Shape 3"/>
          <p:cNvSpPr/>
          <p:nvPr/>
        </p:nvSpPr>
        <p:spPr>
          <a:xfrm>
            <a:off x="6510528" y="3200400"/>
            <a:ext cx="4937760" cy="0"/>
          </a:xfrm>
          <a:prstGeom prst="line">
            <a:avLst/>
          </a:prstGeom>
          <a:noFill/>
          <a:ln w="9525">
            <a:solidFill>
              <a:srgbClr val="808080"/>
            </a:solidFill>
            <a:prstDash val="solid"/>
          </a:ln>
        </p:spPr>
      </p:sp>
      <p:sp>
        <p:nvSpPr>
          <p:cNvPr id="6" name="Text 4"/>
          <p:cNvSpPr/>
          <p:nvPr/>
        </p:nvSpPr>
        <p:spPr>
          <a:xfrm>
            <a:off x="6473952" y="3255264"/>
            <a:ext cx="274320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研究问题：三组假设</a:t>
            </a:r>
          </a:p>
        </p:txBody>
      </p:sp>
      <p:sp>
        <p:nvSpPr>
          <p:cNvPr id="8" name="Text 6"/>
          <p:cNvSpPr/>
          <p:nvPr/>
        </p:nvSpPr>
        <p:spPr>
          <a:xfrm>
            <a:off x="718718" y="1325880"/>
            <a:ext cx="4846320" cy="4480560"/>
          </a:xfrm>
          <a:prstGeom prst="rect">
            <a:avLst/>
          </a:prstGeom>
          <a:noFill/>
          <a:ln/>
        </p:spPr>
        <p:txBody>
          <a:bodyPr wrap="square" lIns="91440" tIns="45720" rIns="91440" bIns="45720" rtlCol="0" anchor="t"/>
          <a:lstStyle/>
          <a:p>
            <a:pPr algn="l" indent="0" marL="0">
              <a:lnSpc>
                <a:spcPct val="150000"/>
              </a:lnSpc>
              <a:buNone/>
            </a:pPr>
            <a:r>
              <a:rPr lang="en-US" sz="1200" dirty="0" b="1">
                <a:solidFill>
                  <a:srgbClr val="102C57"/>
                </a:solidFill>
                <a:latin typeface="Noto Sans SC" pitchFamily="34" charset="0"/>
                <a:ea typeface="Noto Sans SC" pitchFamily="34" charset="-122"/>
                <a:cs typeface="Noto Sans SC" pitchFamily="34" charset="-120"/>
              </a:rPr>
              <a:t>PAPER 1</a:t>
            </a:r>
          </a:p>
          <a:p>
            <a:pPr algn="l" indent="0" marL="0">
              <a:lnSpc>
                <a:spcPct val="150000"/>
              </a:lnSpc>
              <a:spcBef>
                <a:spcPts val="800"/>
              </a:spcBef>
              <a:buNone/>
            </a:pPr>
            <a:r>
              <a:rPr lang="en-US" sz="2000" dirty="0">
                <a:solidFill>
                  <a:srgbClr val="0D0D0D"/>
                </a:solidFill>
                <a:latin typeface="Noto Sans SC" pitchFamily="34" charset="0"/>
                <a:ea typeface="Noto Sans SC" pitchFamily="34" charset="-122"/>
                <a:cs typeface="Noto Sans SC" pitchFamily="34" charset="-120"/>
              </a:rPr>
              <a:t>Unveiling the collective behaviors of large language model-based autonomous agents in an online community: A social network analysis perspective</a:t>
            </a:r>
          </a:p>
          <a:p>
            <a:pPr algn="l" indent="0" marL="0">
              <a:lnSpc>
                <a:spcPct val="150000"/>
              </a:lnSpc>
              <a:spcBef>
                <a:spcPts val="1400"/>
              </a:spcBef>
              <a:buNone/>
            </a:pPr>
            <a:r>
              <a:rPr lang="en-US" sz="1400" dirty="0">
                <a:solidFill>
                  <a:srgbClr val="404040"/>
                </a:solidFill>
                <a:latin typeface="Noto Sans SC" pitchFamily="34" charset="0"/>
                <a:ea typeface="Noto Sans SC" pitchFamily="34" charset="-122"/>
                <a:cs typeface="Noto Sans SC" pitchFamily="34" charset="-120"/>
              </a:rPr>
              <a:t>Huiru Chen, Zhenhua Wang, Ming Ren</a:t>
            </a:r>
          </a:p>
          <a:p>
            <a:pPr algn="l" indent="0" marL="0">
              <a:lnSpc>
                <a:spcPct val="150000"/>
              </a:lnSpc>
              <a:spcBef>
                <a:spcPts val="400"/>
              </a:spcBef>
              <a:buNone/>
            </a:pPr>
            <a:r>
              <a:rPr lang="en-US" sz="1400" dirty="0">
                <a:solidFill>
                  <a:srgbClr val="404040"/>
                </a:solidFill>
                <a:latin typeface="Noto Sans SC" pitchFamily="34" charset="0"/>
                <a:ea typeface="Noto Sans SC" pitchFamily="34" charset="-122"/>
                <a:cs typeface="Noto Sans SC" pitchFamily="34" charset="-120"/>
              </a:rPr>
              <a:t>Renmin University of China; National University of Singapore</a:t>
            </a:r>
          </a:p>
          <a:p>
            <a:pPr algn="l" indent="0" marL="0">
              <a:lnSpc>
                <a:spcPct val="150000"/>
              </a:lnSpc>
              <a:spcBef>
                <a:spcPts val="400"/>
              </a:spcBef>
              <a:buNone/>
            </a:pPr>
            <a:r>
              <a:rPr lang="en-US" sz="1400" dirty="0">
                <a:solidFill>
                  <a:srgbClr val="595959"/>
                </a:solidFill>
                <a:latin typeface="Noto Sans SC" pitchFamily="34" charset="0"/>
                <a:ea typeface="Noto Sans SC" pitchFamily="34" charset="-122"/>
                <a:cs typeface="Noto Sans SC" pitchFamily="34" charset="-120"/>
              </a:rPr>
              <a:t>Data and Information Management, 10 (2026) 100107</a:t>
            </a:r>
          </a:p>
        </p:txBody>
      </p:sp>
      <p:sp>
        <p:nvSpPr>
          <p:cNvPr id="9" name="Shape 7"/>
          <p:cNvSpPr/>
          <p:nvPr/>
        </p:nvSpPr>
        <p:spPr>
          <a:xfrm>
            <a:off x="6510528" y="5138928"/>
            <a:ext cx="4937760" cy="0"/>
          </a:xfrm>
          <a:prstGeom prst="line">
            <a:avLst/>
          </a:prstGeom>
          <a:noFill/>
          <a:ln w="9525">
            <a:solidFill>
              <a:srgbClr val="808080"/>
            </a:solidFill>
            <a:prstDash val="solid"/>
          </a:ln>
        </p:spPr>
      </p:sp>
      <p:sp>
        <p:nvSpPr>
          <p:cNvPr id="10" name="Text 8"/>
          <p:cNvSpPr/>
          <p:nvPr/>
        </p:nvSpPr>
        <p:spPr>
          <a:xfrm>
            <a:off x="6473952" y="5193792"/>
            <a:ext cx="274320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研究平台</a:t>
            </a:r>
          </a:p>
        </p:txBody>
      </p:sp>
      <p:sp>
        <p:nvSpPr>
          <p:cNvPr id="11" name="Text 9"/>
          <p:cNvSpPr/>
          <p:nvPr/>
        </p:nvSpPr>
        <p:spPr>
          <a:xfrm>
            <a:off x="6473952" y="3566160"/>
            <a:ext cx="5029200" cy="1463040"/>
          </a:xfrm>
          <a:prstGeom prst="rect">
            <a:avLst/>
          </a:prstGeom>
          <a:noFill/>
          <a:ln/>
        </p:spPr>
        <p:txBody>
          <a:bodyPr wrap="square" lIns="91440" tIns="45720" rIns="91440" bIns="45720" rtlCol="0" anchor="t"/>
          <a:lstStyle/>
          <a:p>
            <a:pPr algn="l" indent="0" marL="0">
              <a:buNone/>
            </a:pPr>
            <a:r>
              <a:rPr lang="en-US" sz="1400" dirty="0" b="1">
                <a:solidFill>
                  <a:srgbClr val="102C57"/>
                </a:solidFill>
                <a:latin typeface="Noto Sans SC" pitchFamily="34" charset="0"/>
                <a:ea typeface="Noto Sans SC" pitchFamily="34" charset="-122"/>
                <a:cs typeface="Noto Sans SC" pitchFamily="34" charset="-120"/>
              </a:rPr>
              <a:t>H1  </a:t>
            </a:r>
            <a:r>
              <a:rPr lang="en-US" sz="1400" dirty="0">
                <a:solidFill>
                  <a:srgbClr val="404040"/>
                </a:solidFill>
                <a:latin typeface="Noto Sans SC" pitchFamily="34" charset="0"/>
                <a:ea typeface="Noto Sans SC" pitchFamily="34" charset="-122"/>
                <a:cs typeface="Noto Sans SC" pitchFamily="34" charset="-120"/>
              </a:rPr>
              <a:t>网络具有小世界特征（平均路径短、聚类系数高）</a:t>
            </a:r>
          </a:p>
          <a:p>
            <a:pPr algn="l" indent="0" marL="0">
              <a:spcBef>
                <a:spcPts val="600"/>
              </a:spcBef>
              <a:buNone/>
            </a:pPr>
            <a:r>
              <a:rPr lang="en-US" sz="1400" dirty="0" b="1">
                <a:solidFill>
                  <a:srgbClr val="102C57"/>
                </a:solidFill>
                <a:latin typeface="Noto Sans SC" pitchFamily="34" charset="0"/>
                <a:ea typeface="Noto Sans SC" pitchFamily="34" charset="-122"/>
                <a:cs typeface="Noto Sans SC" pitchFamily="34" charset="-120"/>
              </a:rPr>
              <a:t>H2  </a:t>
            </a:r>
            <a:r>
              <a:rPr lang="en-US" sz="1400" dirty="0">
                <a:solidFill>
                  <a:srgbClr val="404040"/>
                </a:solidFill>
                <a:latin typeface="Noto Sans SC" pitchFamily="34" charset="0"/>
                <a:ea typeface="Noto Sans SC" pitchFamily="34" charset="-122"/>
                <a:cs typeface="Noto Sans SC" pitchFamily="34" charset="-120"/>
              </a:rPr>
              <a:t>节点度分布服从幂律 P(x) ∝ x^(−α)</a:t>
            </a:r>
          </a:p>
          <a:p>
            <a:pPr algn="l" indent="0" marL="0">
              <a:spcBef>
                <a:spcPts val="600"/>
              </a:spcBef>
              <a:buNone/>
            </a:pPr>
            <a:r>
              <a:rPr lang="en-US" sz="1400" dirty="0" b="1">
                <a:solidFill>
                  <a:srgbClr val="102C57"/>
                </a:solidFill>
                <a:latin typeface="Noto Sans SC" pitchFamily="34" charset="0"/>
                <a:ea typeface="Noto Sans SC" pitchFamily="34" charset="-122"/>
                <a:cs typeface="Noto Sans SC" pitchFamily="34" charset="-120"/>
              </a:rPr>
              <a:t>H3  </a:t>
            </a:r>
            <a:r>
              <a:rPr lang="en-US" sz="1400" dirty="0">
                <a:solidFill>
                  <a:srgbClr val="404040"/>
                </a:solidFill>
                <a:latin typeface="Noto Sans SC" pitchFamily="34" charset="0"/>
                <a:ea typeface="Noto Sans SC" pitchFamily="34" charset="-122"/>
                <a:cs typeface="Noto Sans SC" pitchFamily="34" charset="-120"/>
              </a:rPr>
              <a:t>同质性：资料（3a）或发帖内容（3b）越相似，越容易建立连接</a:t>
            </a:r>
          </a:p>
        </p:txBody>
      </p:sp>
      <p:sp>
        <p:nvSpPr>
          <p:cNvPr id="12" name="Text 10"/>
          <p:cNvSpPr/>
          <p:nvPr/>
        </p:nvSpPr>
        <p:spPr>
          <a:xfrm>
            <a:off x="6473952" y="5468112"/>
            <a:ext cx="5029200" cy="365760"/>
          </a:xfrm>
          <a:prstGeom prst="rect">
            <a:avLst/>
          </a:prstGeom>
          <a:noFill/>
          <a:ln/>
        </p:spPr>
        <p:txBody>
          <a:bodyPr wrap="square" lIns="91440" tIns="45720" rIns="91440" bIns="45720" rtlCol="0" anchor="t"/>
          <a:lstStyle/>
          <a:p>
            <a:pPr algn="l" indent="0" marL="0">
              <a:buNone/>
            </a:pPr>
            <a:r>
              <a:rPr lang="en-US" sz="1400" dirty="0">
                <a:solidFill>
                  <a:srgbClr val="404040"/>
                </a:solidFill>
                <a:latin typeface="Noto Sans SC" pitchFamily="34" charset="0"/>
                <a:ea typeface="Noto Sans SC" pitchFamily="34" charset="-122"/>
                <a:cs typeface="Noto Sans SC" pitchFamily="34" charset="-120"/>
              </a:rPr>
              <a:t>Chirper：只有 AI 智能体发帖、互动的社交模拟平台</a:t>
            </a:r>
          </a:p>
        </p:txBody>
      </p:sp>
      <p:sp>
        <p:nvSpPr>
          <p:cNvPr id="13" name="Text 11"/>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4" name="Text 12"/>
          <p:cNvSpPr/>
          <p:nvPr/>
        </p:nvSpPr>
        <p:spPr>
          <a:xfrm>
            <a:off x="753466" y="6187653"/>
            <a:ext cx="1933042" cy="245974"/>
          </a:xfrm>
          <a:prstGeom prst="rect">
            <a:avLst/>
          </a:prstGeom>
          <a:noFill/>
          <a:ln/>
        </p:spPr>
        <p:txBody>
          <a:bodyPr wrap="square" lIns="91440" tIns="45720" rIns="91440" bIns="45720" rtlCol="0" anchor="t"/>
          <a:lstStyle/>
          <a:p>
            <a:pPr indent="0" marL="0">
              <a:buNone/>
            </a:pPr>
            <a:r>
              <a:rPr lang="en-US" sz="1000" b="1" dirty="0">
                <a:solidFill>
                  <a:srgbClr val="262626"/>
                </a:solidFill>
                <a:latin typeface="Noto Sans SC" pitchFamily="34" charset="0"/>
                <a:ea typeface="Noto Sans SC" pitchFamily="34" charset="-122"/>
                <a:cs typeface="Noto Sans SC" pitchFamily="34" charset="-120"/>
              </a:rPr>
              <a:t>论文</a:t>
            </a:r>
            <a:r>
              <a:rPr lang="en-US" sz="1000" dirty="0">
                <a:solidFill>
                  <a:srgbClr val="262626"/>
                </a:solidFill>
                <a:latin typeface="Noto Sans SC" pitchFamily="34" charset="0"/>
                <a:ea typeface="Noto Sans SC" pitchFamily="34" charset="-122"/>
                <a:cs typeface="Noto Sans SC" pitchFamily="34" charset="-120"/>
              </a:rPr>
              <a:t> 研讨</a:t>
            </a:r>
            <a:endParaRPr lang="en-US" sz="1000" dirty="0"/>
          </a:p>
        </p:txBody>
      </p:sp>
      <p:sp>
        <p:nvSpPr>
          <p:cNvPr id="15" name="Shape 13"/>
          <p:cNvSpPr/>
          <p:nvPr/>
        </p:nvSpPr>
        <p:spPr>
          <a:xfrm>
            <a:off x="2034814" y="6320790"/>
            <a:ext cx="445770" cy="0"/>
          </a:xfrm>
          <a:prstGeom prst="line">
            <a:avLst/>
          </a:prstGeom>
          <a:noFill/>
          <a:ln w="12700">
            <a:solidFill>
              <a:srgbClr val="BFBFBF"/>
            </a:solidFill>
            <a:prstDash val="solid"/>
          </a:ln>
        </p:spPr>
      </p:sp>
      <p:sp>
        <p:nvSpPr>
          <p:cNvPr id="16" name="Text 14"/>
          <p:cNvSpPr/>
          <p:nvPr/>
        </p:nvSpPr>
        <p:spPr>
          <a:xfrm>
            <a:off x="2400574" y="6197712"/>
            <a:ext cx="806501" cy="245974"/>
          </a:xfrm>
          <a:prstGeom prst="rect">
            <a:avLst/>
          </a:prstGeom>
          <a:noFill/>
          <a:ln/>
        </p:spPr>
        <p:txBody>
          <a:bodyPr wrap="square" lIns="91440" tIns="45720" rIns="91440" bIns="45720" rtlCol="0" anchor="t"/>
          <a:lstStyle/>
          <a:p>
            <a:pPr algn="r" indent="0" marL="0">
              <a:buNone/>
            </a:pPr>
            <a:r>
              <a:rPr lang="en-US" sz="1000" dirty="0">
                <a:solidFill>
                  <a:srgbClr val="262626"/>
                </a:solidFill>
                <a:latin typeface="Noto Sans SC" pitchFamily="34" charset="0"/>
                <a:ea typeface="Noto Sans SC" pitchFamily="34" charset="-122"/>
                <a:cs typeface="Noto Sans SC" pitchFamily="34" charset="-120"/>
              </a:rPr>
              <a:t>共 16 页</a:t>
            </a:r>
          </a:p>
        </p:txBody>
      </p:sp>
      <p:sp>
        <p:nvSpPr>
          <p:cNvPr id="17" name="Text 15"/>
          <p:cNvSpPr/>
          <p:nvPr/>
        </p:nvSpPr>
        <p:spPr>
          <a:xfrm>
            <a:off x="10515600" y="6187653"/>
            <a:ext cx="1008949" cy="245974"/>
          </a:xfrm>
          <a:prstGeom prst="rect">
            <a:avLst/>
          </a:prstGeom>
          <a:noFill/>
          <a:ln/>
        </p:spPr>
        <p:txBody>
          <a:bodyPr wrap="square" lIns="91440" tIns="45720" rIns="91440" bIns="45720" rtlCol="0" anchor="t"/>
          <a:lstStyle/>
          <a:p>
            <a:pPr algn="r" indent="0" marL="0">
              <a:buNone/>
            </a:pPr>
            <a:r>
              <a:rPr lang="en-US" sz="1000" b="1" dirty="0">
                <a:solidFill>
                  <a:srgbClr val="102C57"/>
                </a:solidFill>
                <a:latin typeface="Noto Sans SC" pitchFamily="34" charset="0"/>
                <a:ea typeface="Noto Sans SC" pitchFamily="34" charset="-122"/>
                <a:cs typeface="Noto Sans SC" pitchFamily="34" charset="-120"/>
              </a:rPr>
              <a:t>第</a:t>
            </a:r>
            <a:r>
              <a:rPr lang="en-US" sz="1000" b="1" dirty="0">
                <a:solidFill>
                  <a:srgbClr val="808080"/>
                </a:solidFill>
                <a:latin typeface="Noto Sans SC" pitchFamily="34" charset="0"/>
                <a:ea typeface="Noto Sans SC" pitchFamily="34" charset="-122"/>
                <a:cs typeface="Noto Sans SC" pitchFamily="34" charset="-120"/>
              </a:rPr>
              <a:t> </a:t>
            </a:r>
            <a:r>
              <a:rPr lang="en-US" sz="1000" dirty="0">
                <a:solidFill>
                  <a:srgbClr val="808080"/>
                </a:solidFill>
                <a:latin typeface="Noto Sans SC" pitchFamily="34" charset="0"/>
                <a:ea typeface="Noto Sans SC" pitchFamily="34" charset="-122"/>
                <a:cs typeface="Noto Sans SC" pitchFamily="34" charset="-120"/>
              </a:rPr>
              <a:t>03/16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806440" y="914400"/>
            <a:ext cx="5715000" cy="5074920"/>
          </a:xfrm>
          <a:prstGeom prst="rect">
            <a:avLst/>
          </a:prstGeom>
          <a:solidFill>
            <a:srgbClr val="F5F5F5"/>
          </a:solidFill>
          <a:ln w="9525">
            <a:solidFill>
              <a:srgbClr val="D9D9D9"/>
            </a:solidFill>
          </a:ln>
        </p:spPr>
      </p:sp>
      <p:sp>
        <p:nvSpPr>
          <p:cNvPr id="4" name="Text 2"/>
          <p:cNvSpPr/>
          <p:nvPr/>
        </p:nvSpPr>
        <p:spPr>
          <a:xfrm>
            <a:off x="718718" y="1463040"/>
            <a:ext cx="4846320" cy="3200400"/>
          </a:xfrm>
          <a:prstGeom prst="rect">
            <a:avLst/>
          </a:prstGeom>
          <a:noFill/>
          <a:ln/>
        </p:spPr>
        <p:txBody>
          <a:bodyPr wrap="square" lIns="91440" tIns="45720" rIns="91440" bIns="45720" rtlCol="0" anchor="t"/>
          <a:lstStyle/>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1–2  </a:t>
            </a:r>
            <a:r>
              <a:rPr lang="en-US" sz="1400" dirty="0" b="0">
                <a:solidFill>
                  <a:srgbClr val="404040"/>
                </a:solidFill>
                <a:latin typeface="Noto Sans SC" pitchFamily="34" charset="0"/>
                <a:ea typeface="Noto Sans SC" pitchFamily="34" charset="-122"/>
                <a:cs typeface="Noto Sans SC" pitchFamily="34" charset="-120"/>
              </a:rPr>
              <a:t>Chirper 主页与智能体资料页</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3  </a:t>
            </a:r>
            <a:r>
              <a:rPr lang="en-US" sz="1400" dirty="0" b="0">
                <a:solidFill>
                  <a:srgbClr val="404040"/>
                </a:solidFill>
                <a:latin typeface="Noto Sans SC" pitchFamily="34" charset="0"/>
                <a:ea typeface="Noto Sans SC" pitchFamily="34" charset="-122"/>
                <a:cs typeface="Noto Sans SC" pitchFamily="34" charset="-120"/>
              </a:rPr>
              <a:t>点赞网络可视化（Yifan Hu 布局；红 = 英文，蓝 = 中文）</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4  </a:t>
            </a:r>
            <a:r>
              <a:rPr lang="en-US" sz="1400" dirty="0" b="0">
                <a:solidFill>
                  <a:srgbClr val="404040"/>
                </a:solidFill>
                <a:latin typeface="Noto Sans SC" pitchFamily="34" charset="0"/>
                <a:ea typeface="Noto Sans SC" pitchFamily="34" charset="-122"/>
                <a:cs typeface="Noto Sans SC" pitchFamily="34" charset="-120"/>
              </a:rPr>
              <a:t>每周点赞数</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5  </a:t>
            </a:r>
            <a:r>
              <a:rPr lang="en-US" sz="1400" dirty="0" b="0">
                <a:solidFill>
                  <a:srgbClr val="404040"/>
                </a:solidFill>
                <a:latin typeface="Noto Sans SC" pitchFamily="34" charset="0"/>
                <a:ea typeface="Noto Sans SC" pitchFamily="34" charset="-122"/>
                <a:cs typeface="Noto Sans SC" pitchFamily="34" charset="-120"/>
              </a:rPr>
              <a:t>文本挖掘流程</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6  </a:t>
            </a:r>
            <a:r>
              <a:rPr lang="en-US" sz="1400" dirty="0" b="0">
                <a:solidFill>
                  <a:srgbClr val="404040"/>
                </a:solidFill>
                <a:latin typeface="Noto Sans SC" pitchFamily="34" charset="0"/>
                <a:ea typeface="Noto Sans SC" pitchFamily="34" charset="-122"/>
                <a:cs typeface="Noto Sans SC" pitchFamily="34" charset="-120"/>
              </a:rPr>
              <a:t>LSCC 的多重分形分析</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7–8  </a:t>
            </a:r>
            <a:r>
              <a:rPr lang="en-US" sz="1400" dirty="0" b="0">
                <a:solidFill>
                  <a:srgbClr val="404040"/>
                </a:solidFill>
                <a:latin typeface="Noto Sans SC" pitchFamily="34" charset="0"/>
                <a:ea typeface="Noto Sans SC" pitchFamily="34" charset="-122"/>
                <a:cs typeface="Noto Sans SC" pitchFamily="34" charset="-120"/>
              </a:rPr>
              <a:t>入度 / 出度分布与幂律拟合</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9  </a:t>
            </a:r>
            <a:r>
              <a:rPr lang="en-US" sz="1400" dirty="0" b="0">
                <a:solidFill>
                  <a:srgbClr val="404040"/>
                </a:solidFill>
                <a:latin typeface="Noto Sans SC" pitchFamily="34" charset="0"/>
                <a:ea typeface="Noto Sans SC" pitchFamily="34" charset="-122"/>
                <a:cs typeface="Noto Sans SC" pitchFamily="34" charset="-120"/>
              </a:rPr>
              <a:t>六个时期的优先连接率</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10–13  </a:t>
            </a:r>
            <a:r>
              <a:rPr lang="en-US" sz="1400" dirty="0" b="0">
                <a:solidFill>
                  <a:srgbClr val="404040"/>
                </a:solidFill>
                <a:latin typeface="Noto Sans SC" pitchFamily="34" charset="0"/>
                <a:ea typeface="Noto Sans SC" pitchFamily="34" charset="-122"/>
                <a:cs typeface="Noto Sans SC" pitchFamily="34" charset="-120"/>
              </a:rPr>
              <a:t>相连节点的资料 / 内容相似度（原网络 vs 重连网络，英文 / 中文）</a:t>
            </a:r>
          </a:p>
        </p:txBody>
      </p:sp>
      <p:sp>
        <p:nvSpPr>
          <p:cNvPr id="5" name="Shape 3"/>
          <p:cNvSpPr/>
          <p:nvPr/>
        </p:nvSpPr>
        <p:spPr>
          <a:xfrm>
            <a:off x="822960" y="4709160"/>
            <a:ext cx="4663440" cy="0"/>
          </a:xfrm>
          <a:prstGeom prst="line">
            <a:avLst/>
          </a:prstGeom>
          <a:noFill/>
          <a:ln w="9525">
            <a:solidFill>
              <a:srgbClr val="808080"/>
            </a:solidFill>
            <a:prstDash val="solid"/>
          </a:ln>
        </p:spPr>
      </p:sp>
      <p:sp>
        <p:nvSpPr>
          <p:cNvPr id="6" name="Text 4"/>
          <p:cNvSpPr/>
          <p:nvPr/>
        </p:nvSpPr>
        <p:spPr>
          <a:xfrm>
            <a:off x="718718" y="4754880"/>
            <a:ext cx="274320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论文中的图（Fig. 1–13）</a:t>
            </a:r>
          </a:p>
        </p:txBody>
      </p:sp>
      <p:sp>
        <p:nvSpPr>
          <p:cNvPr id="9" name="Text 7"/>
          <p:cNvSpPr/>
          <p:nvPr/>
        </p:nvSpPr>
        <p:spPr>
          <a:xfrm>
            <a:off x="718718" y="5074920"/>
            <a:ext cx="4846320" cy="914400"/>
          </a:xfrm>
          <a:prstGeom prst="rect">
            <a:avLst/>
          </a:prstGeom>
          <a:noFill/>
          <a:ln/>
        </p:spPr>
        <p:txBody>
          <a:bodyPr wrap="square" lIns="91440" tIns="45720" rIns="91440" bIns="45720" rtlCol="0" anchor="t"/>
          <a:lstStyle/>
          <a:p>
            <a:pPr algn="l" indent="0" marL="0">
              <a:lnSpc>
                <a:spcPct val="115000"/>
              </a:lnSpc>
              <a:buNone/>
            </a:pPr>
            <a:r>
              <a:rPr lang="en-US" sz="1400" dirty="0" b="1">
                <a:solidFill>
                  <a:srgbClr val="102C57"/>
                </a:solidFill>
                <a:latin typeface="Noto Sans SC" pitchFamily="34" charset="0"/>
                <a:ea typeface="Noto Sans SC" pitchFamily="34" charset="-122"/>
                <a:cs typeface="Noto Sans SC" pitchFamily="34" charset="-120"/>
              </a:rPr>
              <a:t>表  </a:t>
            </a:r>
            <a:r>
              <a:rPr lang="en-US" sz="1400" dirty="0" b="0">
                <a:solidFill>
                  <a:srgbClr val="404040"/>
                </a:solidFill>
                <a:latin typeface="Noto Sans SC" pitchFamily="34" charset="0"/>
                <a:ea typeface="Noto Sans SC" pitchFamily="34" charset="-122"/>
                <a:cs typeface="Noto Sans SC" pitchFamily="34" charset="-120"/>
              </a:rPr>
              <a:t>Table 1 七个网络的结构指标（含随机网络对照）；Table 2 幂律 vs 指数 / 对数正态；Table 3 英文子频道十大主题</a:t>
            </a:r>
          </a:p>
        </p:txBody>
      </p:sp>
      <p:sp>
        <p:nvSpPr>
          <p:cNvPr id="12" name="Text 10"/>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3" name="Text 11"/>
          <p:cNvSpPr/>
          <p:nvPr/>
        </p:nvSpPr>
        <p:spPr>
          <a:xfrm>
            <a:off x="753466" y="6187653"/>
            <a:ext cx="1933042" cy="245974"/>
          </a:xfrm>
          <a:prstGeom prst="rect">
            <a:avLst/>
          </a:prstGeom>
          <a:noFill/>
          <a:ln/>
        </p:spPr>
        <p:txBody>
          <a:bodyPr wrap="square" lIns="91440" tIns="45720" rIns="91440" bIns="45720" rtlCol="0" anchor="t"/>
          <a:lstStyle/>
          <a:p>
            <a:pPr indent="0" marL="0">
              <a:buNone/>
            </a:pPr>
            <a:r>
              <a:rPr lang="en-US" sz="1000" b="1" dirty="0">
                <a:solidFill>
                  <a:srgbClr val="404040"/>
                </a:solidFill>
                <a:latin typeface="Noto Sans SC" pitchFamily="34" charset="0"/>
                <a:ea typeface="Noto Sans SC" pitchFamily="34" charset="-122"/>
                <a:cs typeface="Noto Sans SC" pitchFamily="34" charset="-120"/>
              </a:rPr>
              <a:t>论文</a:t>
            </a:r>
            <a:r>
              <a:rPr lang="en-US" sz="1000" dirty="0">
                <a:solidFill>
                  <a:srgbClr val="404040"/>
                </a:solidFill>
                <a:latin typeface="Noto Sans SC" pitchFamily="34" charset="0"/>
                <a:ea typeface="Noto Sans SC" pitchFamily="34" charset="-122"/>
                <a:cs typeface="Noto Sans SC" pitchFamily="34" charset="-120"/>
              </a:rPr>
              <a:t> 研讨</a:t>
            </a:r>
            <a:endParaRPr lang="en-US" sz="1000" dirty="0"/>
          </a:p>
        </p:txBody>
      </p:sp>
      <p:sp>
        <p:nvSpPr>
          <p:cNvPr id="14" name="Shape 12"/>
          <p:cNvSpPr/>
          <p:nvPr/>
        </p:nvSpPr>
        <p:spPr>
          <a:xfrm>
            <a:off x="2034814" y="6320790"/>
            <a:ext cx="445770" cy="0"/>
          </a:xfrm>
          <a:prstGeom prst="line">
            <a:avLst/>
          </a:prstGeom>
          <a:noFill/>
          <a:ln w="12700">
            <a:solidFill>
              <a:srgbClr val="0D0D0D"/>
            </a:solidFill>
            <a:prstDash val="solid"/>
          </a:ln>
        </p:spPr>
      </p:sp>
      <p:sp>
        <p:nvSpPr>
          <p:cNvPr id="15" name="Text 13"/>
          <p:cNvSpPr/>
          <p:nvPr/>
        </p:nvSpPr>
        <p:spPr>
          <a:xfrm>
            <a:off x="2400574"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102C57"/>
                </a:solidFill>
                <a:latin typeface="Noto Sans SC" pitchFamily="34" charset="0"/>
                <a:ea typeface="Noto Sans SC" pitchFamily="34" charset="-122"/>
                <a:cs typeface="Noto Sans SC" pitchFamily="34" charset="-120"/>
              </a:rPr>
              <a:t>共 16 页</a:t>
            </a:r>
          </a:p>
        </p:txBody>
      </p:sp>
      <p:sp>
        <p:nvSpPr>
          <p:cNvPr id="16" name="Text 14"/>
          <p:cNvSpPr/>
          <p:nvPr/>
        </p:nvSpPr>
        <p:spPr>
          <a:xfrm>
            <a:off x="10515600" y="6187653"/>
            <a:ext cx="1008949" cy="245974"/>
          </a:xfrm>
          <a:prstGeom prst="rect">
            <a:avLst/>
          </a:prstGeom>
          <a:noFill/>
          <a:ln/>
        </p:spPr>
        <p:txBody>
          <a:bodyPr wrap="square" lIns="91440" tIns="45720" rIns="91440" bIns="45720" rtlCol="0" anchor="t"/>
          <a:lstStyle/>
          <a:p>
            <a:pPr algn="r" indent="0" marL="0">
              <a:buNone/>
            </a:pPr>
            <a:r>
              <a:rPr lang="en-US" sz="1000" b="1" dirty="0">
                <a:solidFill>
                  <a:srgbClr val="262626"/>
                </a:solidFill>
                <a:latin typeface="Noto Sans SC" pitchFamily="34" charset="0"/>
                <a:ea typeface="Noto Sans SC" pitchFamily="34" charset="-122"/>
                <a:cs typeface="Noto Sans SC" pitchFamily="34" charset="-120"/>
              </a:rPr>
              <a:t>第 </a:t>
            </a:r>
            <a:r>
              <a:rPr lang="en-US" sz="1000" dirty="0">
                <a:solidFill>
                  <a:srgbClr val="262626"/>
                </a:solidFill>
                <a:latin typeface="Noto Sans SC" pitchFamily="34" charset="0"/>
                <a:ea typeface="Noto Sans SC" pitchFamily="34" charset="-122"/>
                <a:cs typeface="Noto Sans SC" pitchFamily="34" charset="-120"/>
              </a:rPr>
              <a:t>06/16</a:t>
            </a:r>
            <a:endParaRPr lang="en-US" sz="1000" dirty="0"/>
          </a:p>
        </p:txBody>
      </p:sp>
      <p:sp>
        <p:nvSpPr>
          <p:cNvPr id="30" name="Heading"/>
          <p:cNvSpPr/>
          <p:nvPr/>
        </p:nvSpPr>
        <p:spPr>
          <a:xfrm>
            <a:off x="718718" y="777240"/>
            <a:ext cx="4937760" cy="640080"/>
          </a:xfrm>
          <a:prstGeom prst="rect">
            <a:avLst/>
          </a:prstGeom>
          <a:noFill/>
          <a:ln/>
        </p:spPr>
        <p:txBody>
          <a:bodyPr wrap="square" lIns="91440" tIns="45720" rIns="91440" bIns="45720" rtlCol="0" anchor="t"/>
          <a:lstStyle/>
          <a:p>
            <a:pPr algn="l" indent="0" marL="0">
              <a:lnSpc>
                <a:spcPct val="100000"/>
              </a:lnSpc>
              <a:buNone/>
            </a:pPr>
            <a:r>
              <a:rPr lang="en-US" sz="3000" dirty="0" b="0">
                <a:solidFill>
                  <a:srgbClr val="0D0D0D"/>
                </a:solidFill>
                <a:latin typeface="Noto Sans SC" pitchFamily="34" charset="0"/>
                <a:ea typeface="Noto Sans SC" pitchFamily="34" charset="-122"/>
                <a:cs typeface="Noto Sans SC" pitchFamily="34" charset="-120"/>
              </a:rPr>
              <a:t>P1 方法细节：图与公式</a:t>
            </a:r>
          </a:p>
        </p:txBody>
      </p:sp>
      <p:sp>
        <p:nvSpPr>
          <p:cNvPr id="40" name="Formula label"/>
          <p:cNvSpPr/>
          <p:nvPr/>
        </p:nvSpPr>
        <p:spPr>
          <a:xfrm>
            <a:off x="6035040" y="1051560"/>
            <a:ext cx="530352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所用公式与判据</a:t>
            </a:r>
          </a:p>
        </p:txBody>
      </p:sp>
      <p:pic>
        <p:nvPicPr>
          <p:cNvPr id="50" name="Formula 1" descr="formula eq1"/>
          <p:cNvPicPr>
            <a:picLocks noChangeAspect="1"/>
          </p:cNvPicPr>
          <p:nvPr/>
        </p:nvPicPr>
        <p:blipFill>
          <a:blip r:embed="rIdG2eq1"/>
          <a:stretch>
            <a:fillRect/>
          </a:stretch>
        </p:blipFill>
        <p:spPr>
          <a:xfrm>
            <a:off x="6035040" y="1724375"/>
            <a:ext cx="2205532" cy="254568"/>
          </a:xfrm>
          <a:prstGeom prst="rect">
            <a:avLst/>
          </a:prstGeom>
        </p:spPr>
      </p:pic>
      <p:sp>
        <p:nvSpPr>
          <p:cNvPr id="60" name="Formula caption 1"/>
          <p:cNvSpPr/>
          <p:nvPr/>
        </p:nvSpPr>
        <p:spPr>
          <a:xfrm>
            <a:off x="8503920" y="1463040"/>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幂律（Eq. 1）：Clauset 法估计 α 与 x_min，K-S 统计量 D + 5000 次 bootstrap</a:t>
            </a:r>
          </a:p>
        </p:txBody>
      </p:sp>
      <p:pic>
        <p:nvPicPr>
          <p:cNvPr id="51" name="Formula 2" descr="formula eq2"/>
          <p:cNvPicPr>
            <a:picLocks noChangeAspect="1"/>
          </p:cNvPicPr>
          <p:nvPr/>
        </p:nvPicPr>
        <p:blipFill>
          <a:blip r:embed="rIdG2eq2"/>
          <a:stretch>
            <a:fillRect/>
          </a:stretch>
        </p:blipFill>
        <p:spPr>
          <a:xfrm>
            <a:off x="6035040" y="2475646"/>
            <a:ext cx="1380378" cy="544250"/>
          </a:xfrm>
          <a:prstGeom prst="rect">
            <a:avLst/>
          </a:prstGeom>
        </p:spPr>
      </p:pic>
      <p:sp>
        <p:nvSpPr>
          <p:cNvPr id="61" name="Formula caption 2"/>
          <p:cNvSpPr/>
          <p:nvPr/>
        </p:nvSpPr>
        <p:spPr>
          <a:xfrm>
            <a:off x="8503920" y="2359152"/>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优先连接率（Eq. 2）：m₂(k) 为新增边中连向入度 k 节点的边数，n₁(k) 为入度 k 的节点数</a:t>
            </a:r>
          </a:p>
        </p:txBody>
      </p:sp>
      <p:pic>
        <p:nvPicPr>
          <p:cNvPr id="52" name="Formula 3" descr="formula eq3"/>
          <p:cNvPicPr>
            <a:picLocks noChangeAspect="1"/>
          </p:cNvPicPr>
          <p:nvPr/>
        </p:nvPicPr>
        <p:blipFill>
          <a:blip r:embed="rIdG2eq3"/>
          <a:stretch>
            <a:fillRect/>
          </a:stretch>
        </p:blipFill>
        <p:spPr>
          <a:xfrm>
            <a:off x="6035040" y="3364077"/>
            <a:ext cx="2117750" cy="559612"/>
          </a:xfrm>
          <a:prstGeom prst="rect">
            <a:avLst/>
          </a:prstGeom>
        </p:spPr>
      </p:pic>
      <p:sp>
        <p:nvSpPr>
          <p:cNvPr id="62" name="Formula caption 3"/>
          <p:cNvSpPr/>
          <p:nvPr/>
        </p:nvSpPr>
        <p:spPr>
          <a:xfrm>
            <a:off x="8503920" y="3255264"/>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有向全局效率：论文的文字定义，即平均逆最短路径（忽略不可达节点对）</a:t>
            </a:r>
          </a:p>
        </p:txBody>
      </p:sp>
      <p:pic>
        <p:nvPicPr>
          <p:cNvPr id="53" name="Formula 4" descr="formula eq4"/>
          <p:cNvPicPr>
            <a:picLocks noChangeAspect="1"/>
          </p:cNvPicPr>
          <p:nvPr/>
        </p:nvPicPr>
        <p:blipFill>
          <a:blip r:embed="rIdG2eq4"/>
          <a:stretch>
            <a:fillRect/>
          </a:stretch>
        </p:blipFill>
        <p:spPr>
          <a:xfrm>
            <a:off x="6035040" y="4302983"/>
            <a:ext cx="1865376" cy="474024"/>
          </a:xfrm>
          <a:prstGeom prst="rect">
            <a:avLst/>
          </a:prstGeom>
        </p:spPr>
      </p:pic>
      <p:sp>
        <p:nvSpPr>
          <p:cNvPr id="63" name="Formula caption 4"/>
          <p:cNvSpPr/>
          <p:nvPr/>
        </p:nvSpPr>
        <p:spPr>
          <a:xfrm>
            <a:off x="8503920" y="4151376"/>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余弦相似度：用于 Doc2Vec 资料向量和 BERTopic 主题分布向量</a:t>
            </a:r>
          </a:p>
        </p:txBody>
      </p:sp>
      <p:pic>
        <p:nvPicPr>
          <p:cNvPr id="54" name="Formula 5" descr="formula eq5"/>
          <p:cNvPicPr>
            <a:picLocks noChangeAspect="1"/>
          </p:cNvPicPr>
          <p:nvPr/>
        </p:nvPicPr>
        <p:blipFill>
          <a:blip r:embed="rIdG2eq5"/>
          <a:stretch>
            <a:fillRect/>
          </a:stretch>
        </p:blipFill>
        <p:spPr>
          <a:xfrm>
            <a:off x="6035040" y="5309920"/>
            <a:ext cx="2016800" cy="252374"/>
          </a:xfrm>
          <a:prstGeom prst="rect">
            <a:avLst/>
          </a:prstGeom>
        </p:spPr>
      </p:pic>
      <p:sp>
        <p:nvSpPr>
          <p:cNvPr id="64" name="Formula caption 5"/>
          <p:cNvSpPr/>
          <p:nvPr/>
        </p:nvSpPr>
        <p:spPr>
          <a:xfrm>
            <a:off x="8503920" y="5047488"/>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小世界判据：聚类远高于、路径接近同规模随机网络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44130" y="0"/>
            <a:ext cx="4748479" cy="6858000"/>
          </a:xfrm>
          <a:prstGeom prst="rect">
            <a:avLst/>
          </a:prstGeom>
          <a:ln/>
        </p:spPr>
      </p:sp>
      <p:sp>
        <p:nvSpPr>
          <p:cNvPr id="3" name="Shape 1"/>
          <p:cNvSpPr/>
          <p:nvPr/>
        </p:nvSpPr>
        <p:spPr>
          <a:xfrm>
            <a:off x="718718" y="2971800"/>
            <a:ext cx="6309360" cy="2880360"/>
          </a:xfrm>
          <a:prstGeom prst="rect">
            <a:avLst/>
          </a:prstGeom>
          <a:solidFill>
            <a:srgbClr val="F5F5F5"/>
          </a:solidFill>
          <a:ln w="9525">
            <a:solidFill>
              <a:srgbClr val="D9D9D9"/>
            </a:solidFill>
          </a:ln>
        </p:spPr>
      </p:sp>
      <p:sp>
        <p:nvSpPr>
          <p:cNvPr id="4" name="Text 2"/>
          <p:cNvSpPr/>
          <p:nvPr/>
        </p:nvSpPr>
        <p:spPr>
          <a:xfrm>
            <a:off x="718718" y="868680"/>
            <a:ext cx="6400800" cy="731520"/>
          </a:xfrm>
          <a:prstGeom prst="rect">
            <a:avLst/>
          </a:prstGeom>
          <a:noFill/>
          <a:ln/>
        </p:spPr>
        <p:txBody>
          <a:bodyPr wrap="square" lIns="91440" tIns="45720" rIns="91440" bIns="45720" rtlCol="0" anchor="t"/>
          <a:lstStyle/>
          <a:p>
            <a:pPr algn="l" indent="0" marL="0">
              <a:lnSpc>
                <a:spcPct val="100000"/>
              </a:lnSpc>
              <a:buNone/>
            </a:pPr>
            <a:r>
              <a:rPr lang="en-US" sz="3400" dirty="0" b="0">
                <a:solidFill>
                  <a:srgbClr val="0D0D0D"/>
                </a:solidFill>
                <a:latin typeface="Noto Sans SC" pitchFamily="34" charset="0"/>
                <a:ea typeface="Noto Sans SC" pitchFamily="34" charset="-122"/>
                <a:cs typeface="Noto Sans SC" pitchFamily="34" charset="-120"/>
              </a:rPr>
              <a:t>P3 主要发现：有形式，无功能</a:t>
            </a:r>
          </a:p>
        </p:txBody>
      </p:sp>
      <p:sp>
        <p:nvSpPr>
          <p:cNvPr id="5" name="Text 3"/>
          <p:cNvSpPr/>
          <p:nvPr/>
        </p:nvSpPr>
        <p:spPr>
          <a:xfrm>
            <a:off x="718718" y="1645920"/>
            <a:ext cx="6400800" cy="822960"/>
          </a:xfrm>
          <a:prstGeom prst="rect">
            <a:avLst/>
          </a:prstGeom>
          <a:noFill/>
          <a:ln/>
        </p:spPr>
        <p:txBody>
          <a:bodyPr wrap="square" lIns="91440" tIns="45720" rIns="91440" bIns="45720" rtlCol="0" anchor="t"/>
          <a:lstStyle/>
          <a:p>
            <a:pPr algn="l" indent="0" marL="0">
              <a:lnSpc>
                <a:spcPct val="125000"/>
              </a:lnSpc>
              <a:buNone/>
            </a:pPr>
            <a:r>
              <a:rPr lang="en-US" sz="1600" dirty="0" b="0">
                <a:solidFill>
                  <a:srgbClr val="404040"/>
                </a:solidFill>
                <a:latin typeface="Noto Sans SC" pitchFamily="34" charset="0"/>
                <a:ea typeface="Noto Sans SC" pitchFamily="34" charset="-122"/>
                <a:cs typeface="Noto Sans SC" pitchFamily="34" charset="-120"/>
              </a:rPr>
              <a:t>表面指标一应俱全：帖子、评论、社区、karma 都在；但对话、互惠、质量筛选这些社交功能几乎没有出现。</a:t>
            </a:r>
          </a:p>
        </p:txBody>
      </p:sp>
      <p:sp>
        <p:nvSpPr>
          <p:cNvPr id="6" name="Text 4"/>
          <p:cNvSpPr/>
          <p:nvPr/>
        </p:nvSpPr>
        <p:spPr>
          <a:xfrm>
            <a:off x="741578" y="2606040"/>
            <a:ext cx="5486400" cy="274320"/>
          </a:xfrm>
          <a:prstGeom prst="rect">
            <a:avLst/>
          </a:prstGeom>
          <a:noFill/>
          <a:ln/>
        </p:spPr>
        <p:txBody>
          <a:bodyPr wrap="square" lIns="91440" tIns="45720" rIns="91440" bIns="45720" rtlCol="0" anchor="t"/>
          <a:lstStyle/>
          <a:p>
            <a:pPr algn="l" indent="0" marL="0">
              <a:buNone/>
            </a:pPr>
            <a:r>
              <a:rPr lang="en-US" sz="1200" b="1" kern="0" dirty="0">
                <a:solidFill>
                  <a:srgbClr val="102C57"/>
                </a:solidFill>
                <a:latin typeface="Noto Sans SC" pitchFamily="34" charset="0"/>
                <a:ea typeface="Noto Sans SC" pitchFamily="34" charset="-122"/>
                <a:cs typeface="Noto Sans SC" pitchFamily="34" charset="-120"/>
              </a:rPr>
              <a:t>指令层：硬约束有效，软引导无效</a:t>
            </a:r>
          </a:p>
        </p:txBody>
      </p:sp>
      <p:sp>
        <p:nvSpPr>
          <p:cNvPr id="7" name="Text 5"/>
          <p:cNvSpPr/>
          <p:nvPr/>
        </p:nvSpPr>
        <p:spPr>
          <a:xfrm>
            <a:off x="960120" y="3154680"/>
            <a:ext cx="5852160" cy="1828800"/>
          </a:xfrm>
          <a:prstGeom prst="rect">
            <a:avLst/>
          </a:prstGeom>
          <a:noFill/>
          <a:ln/>
        </p:spPr>
        <p:txBody>
          <a:bodyPr wrap="square" lIns="91440" tIns="45720" rIns="91440" bIns="45720" rtlCol="0" anchor="t"/>
          <a:lstStyle/>
          <a:p>
            <a:pPr algn="l" indent="0" marL="0">
              <a:lnSpc>
                <a:spcPct val="130000"/>
              </a:lnSpc>
              <a:buNone/>
            </a:pPr>
            <a:r>
              <a:rPr lang="en-US" sz="1600" dirty="0" b="0">
                <a:solidFill>
                  <a:srgbClr val="262626"/>
                </a:solidFill>
                <a:latin typeface="Noto Sans SC" pitchFamily="34" charset="0"/>
                <a:ea typeface="Noto Sans SC" pitchFamily="34" charset="-122"/>
                <a:cs typeface="Noto Sans SC" pitchFamily="34" charset="-120"/>
              </a:rPr>
              <a:t>限流、新号上限、内容过滤等硬约束会立刻改变行为（如 2 月 8 日新号上限后首日行为 −88%）；“给好帖点赞”“别跑题”这类软引导，在写进 heartbeat 的执行步骤之前一直被忽略。</a:t>
            </a:r>
          </a:p>
        </p:txBody>
      </p:sp>
      <p:sp>
        <p:nvSpPr>
          <p:cNvPr id="8" name="Shape 6"/>
          <p:cNvSpPr/>
          <p:nvPr/>
        </p:nvSpPr>
        <p:spPr>
          <a:xfrm>
            <a:off x="1051560" y="5120640"/>
            <a:ext cx="5669280" cy="0"/>
          </a:xfrm>
          <a:prstGeom prst="line">
            <a:avLst/>
          </a:prstGeom>
          <a:noFill/>
          <a:ln w="9525">
            <a:solidFill>
              <a:srgbClr val="BFBFBF"/>
            </a:solidFill>
            <a:prstDash val="solid"/>
          </a:ln>
        </p:spPr>
      </p:sp>
      <p:sp>
        <p:nvSpPr>
          <p:cNvPr id="9" name="Text 7"/>
          <p:cNvSpPr/>
          <p:nvPr/>
        </p:nvSpPr>
        <p:spPr>
          <a:xfrm>
            <a:off x="960120" y="5175504"/>
            <a:ext cx="5852160" cy="548640"/>
          </a:xfrm>
          <a:prstGeom prst="rect">
            <a:avLst/>
          </a:prstGeom>
          <a:noFill/>
          <a:ln/>
        </p:spPr>
        <p:txBody>
          <a:bodyPr wrap="square" lIns="91440" tIns="45720" rIns="91440" bIns="45720" rtlCol="0" anchor="t"/>
          <a:lstStyle/>
          <a:p>
            <a:pPr algn="l" indent="0" marL="0">
              <a:lnSpc>
                <a:spcPct val="110000"/>
              </a:lnSpc>
              <a:buNone/>
            </a:pPr>
            <a:r>
              <a:rPr lang="en-US" sz="1400" dirty="0" b="0">
                <a:solidFill>
                  <a:srgbClr val="595959"/>
                </a:solidFill>
                <a:latin typeface="Noto Sans SC" pitchFamily="34" charset="0"/>
                <a:ea typeface="Noto Sans SC" pitchFamily="34" charset="-122"/>
                <a:cs typeface="Noto Sans SC" pitchFamily="34" charset="-120"/>
              </a:rPr>
              <a:t>论文据此区分：可通过改写指令修复的行为 vs 由模型本身决定的行为</a:t>
            </a:r>
          </a:p>
        </p:txBody>
      </p:sp>
      <p:sp>
        <p:nvSpPr>
          <p:cNvPr id="10" name="Text 8"/>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1" name="Text 9"/>
          <p:cNvSpPr/>
          <p:nvPr/>
        </p:nvSpPr>
        <p:spPr>
          <a:xfrm>
            <a:off x="753466" y="6187653"/>
            <a:ext cx="1933042" cy="245974"/>
          </a:xfrm>
          <a:prstGeom prst="rect">
            <a:avLst/>
          </a:prstGeom>
          <a:noFill/>
          <a:ln/>
        </p:spPr>
        <p:txBody>
          <a:bodyPr wrap="square" lIns="91440" tIns="45720" rIns="91440" bIns="45720" rtlCol="0" anchor="t"/>
          <a:lstStyle/>
          <a:p>
            <a:pPr indent="0" marL="0">
              <a:buNone/>
            </a:pPr>
            <a:r>
              <a:rPr lang="en-US" sz="1000" b="1" dirty="0">
                <a:solidFill>
                  <a:srgbClr val="404040"/>
                </a:solidFill>
                <a:latin typeface="Noto Sans SC" pitchFamily="34" charset="0"/>
                <a:ea typeface="Noto Sans SC" pitchFamily="34" charset="-122"/>
                <a:cs typeface="Noto Sans SC" pitchFamily="34" charset="-120"/>
              </a:rPr>
              <a:t>论文</a:t>
            </a:r>
            <a:r>
              <a:rPr lang="en-US" sz="1000" dirty="0">
                <a:solidFill>
                  <a:srgbClr val="404040"/>
                </a:solidFill>
                <a:latin typeface="Noto Sans SC" pitchFamily="34" charset="0"/>
                <a:ea typeface="Noto Sans SC" pitchFamily="34" charset="-122"/>
                <a:cs typeface="Noto Sans SC" pitchFamily="34" charset="-120"/>
              </a:rPr>
              <a:t> 研讨</a:t>
            </a:r>
            <a:endParaRPr lang="en-US" sz="1000" dirty="0"/>
          </a:p>
        </p:txBody>
      </p:sp>
      <p:sp>
        <p:nvSpPr>
          <p:cNvPr id="12" name="Shape 10"/>
          <p:cNvSpPr/>
          <p:nvPr/>
        </p:nvSpPr>
        <p:spPr>
          <a:xfrm>
            <a:off x="2034814" y="6320790"/>
            <a:ext cx="445770" cy="0"/>
          </a:xfrm>
          <a:prstGeom prst="line">
            <a:avLst/>
          </a:prstGeom>
          <a:noFill/>
          <a:ln w="12700">
            <a:solidFill>
              <a:srgbClr val="0D0D0D"/>
            </a:solidFill>
            <a:prstDash val="solid"/>
          </a:ln>
        </p:spPr>
      </p:sp>
      <p:sp>
        <p:nvSpPr>
          <p:cNvPr id="13" name="Text 11"/>
          <p:cNvSpPr/>
          <p:nvPr/>
        </p:nvSpPr>
        <p:spPr>
          <a:xfrm>
            <a:off x="2400574"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102C57"/>
                </a:solidFill>
                <a:latin typeface="Noto Sans SC" pitchFamily="34" charset="0"/>
                <a:ea typeface="Noto Sans SC" pitchFamily="34" charset="-122"/>
                <a:cs typeface="Noto Sans SC" pitchFamily="34" charset="-120"/>
              </a:rPr>
              <a:t>共 16 页</a:t>
            </a:r>
          </a:p>
        </p:txBody>
      </p:sp>
      <p:sp>
        <p:nvSpPr>
          <p:cNvPr id="14" name="Text 12"/>
          <p:cNvSpPr/>
          <p:nvPr/>
        </p:nvSpPr>
        <p:spPr>
          <a:xfrm>
            <a:off x="10515600" y="6187653"/>
            <a:ext cx="1008949" cy="245974"/>
          </a:xfrm>
          <a:prstGeom prst="rect">
            <a:avLst/>
          </a:prstGeom>
          <a:noFill/>
          <a:ln/>
        </p:spPr>
        <p:txBody>
          <a:bodyPr wrap="square" lIns="91440" tIns="45720" rIns="91440" bIns="45720" rtlCol="0" anchor="t"/>
          <a:lstStyle/>
          <a:p>
            <a:pPr algn="r" indent="0" marL="0">
              <a:buNone/>
            </a:pPr>
            <a:r>
              <a:rPr lang="en-US" sz="1000" b="1" dirty="0">
                <a:solidFill>
                  <a:srgbClr val="404040"/>
                </a:solidFill>
                <a:latin typeface="Noto Sans SC" pitchFamily="34" charset="0"/>
                <a:ea typeface="Noto Sans SC" pitchFamily="34" charset="-122"/>
                <a:cs typeface="Noto Sans SC" pitchFamily="34" charset="-120"/>
              </a:rPr>
              <a:t>第 </a:t>
            </a:r>
            <a:r>
              <a:rPr lang="en-US" sz="1000" dirty="0">
                <a:solidFill>
                  <a:srgbClr val="404040"/>
                </a:solidFill>
                <a:latin typeface="Noto Sans SC" pitchFamily="34" charset="0"/>
                <a:ea typeface="Noto Sans SC" pitchFamily="34" charset="-122"/>
                <a:cs typeface="Noto Sans SC" pitchFamily="34" charset="-120"/>
              </a:rPr>
              <a:t>11/16</a:t>
            </a:r>
            <a:endParaRPr lang="en-US" sz="1000" dirty="0"/>
          </a:p>
        </p:txBody>
      </p:sp>
      <p:sp>
        <p:nvSpPr>
          <p:cNvPr id="30" name="Finding num 1"/>
          <p:cNvSpPr/>
          <p:nvPr/>
        </p:nvSpPr>
        <p:spPr>
          <a:xfrm>
            <a:off x="7498079" y="914400"/>
            <a:ext cx="1463040" cy="640080"/>
          </a:xfrm>
          <a:prstGeom prst="rect">
            <a:avLst/>
          </a:prstGeom>
          <a:noFill/>
          <a:ln/>
        </p:spPr>
        <p:txBody>
          <a:bodyPr wrap="square" lIns="91440" tIns="45720" rIns="91440" bIns="45720" rtlCol="0" anchor="ctr"/>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3.3%</a:t>
            </a:r>
          </a:p>
        </p:txBody>
      </p:sp>
      <p:sp>
        <p:nvSpPr>
          <p:cNvPr id="40" name="Finding label 1"/>
          <p:cNvSpPr/>
          <p:nvPr/>
        </p:nvSpPr>
        <p:spPr>
          <a:xfrm>
            <a:off x="9006840" y="914400"/>
            <a:ext cx="2697480" cy="64008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互惠率（人类平台 22–60%）</a:t>
            </a:r>
          </a:p>
        </p:txBody>
      </p:sp>
      <p:sp>
        <p:nvSpPr>
          <p:cNvPr id="31" name="Finding num 2"/>
          <p:cNvSpPr/>
          <p:nvPr/>
        </p:nvSpPr>
        <p:spPr>
          <a:xfrm>
            <a:off x="7498079" y="1737360"/>
            <a:ext cx="1463040" cy="640080"/>
          </a:xfrm>
          <a:prstGeom prst="rect">
            <a:avLst/>
          </a:prstGeom>
          <a:noFill/>
          <a:ln/>
        </p:spPr>
        <p:txBody>
          <a:bodyPr wrap="square" lIns="91440" tIns="45720" rIns="91440" bIns="45720" rtlCol="0" anchor="ctr"/>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85.6%</a:t>
            </a:r>
          </a:p>
        </p:txBody>
      </p:sp>
      <p:sp>
        <p:nvSpPr>
          <p:cNvPr id="41" name="Finding label 2"/>
          <p:cNvSpPr/>
          <p:nvPr/>
        </p:nvSpPr>
        <p:spPr>
          <a:xfrm>
            <a:off x="9006840" y="1737360"/>
            <a:ext cx="2697480" cy="64008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对话是扁平的：没有任何回复的回复</a:t>
            </a:r>
          </a:p>
        </p:txBody>
      </p:sp>
      <p:sp>
        <p:nvSpPr>
          <p:cNvPr id="32" name="Finding num 3"/>
          <p:cNvSpPr/>
          <p:nvPr/>
        </p:nvSpPr>
        <p:spPr>
          <a:xfrm>
            <a:off x="7498079" y="2560320"/>
            <a:ext cx="1463040" cy="640080"/>
          </a:xfrm>
          <a:prstGeom prst="rect">
            <a:avLst/>
          </a:prstGeom>
          <a:noFill/>
          <a:ln/>
        </p:spPr>
        <p:txBody>
          <a:bodyPr wrap="square" lIns="91440" tIns="45720" rIns="91440" bIns="45720" rtlCol="0" anchor="ctr"/>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91.4%</a:t>
            </a:r>
          </a:p>
        </p:txBody>
      </p:sp>
      <p:sp>
        <p:nvSpPr>
          <p:cNvPr id="42" name="Finding label 3"/>
          <p:cNvSpPr/>
          <p:nvPr/>
        </p:nvSpPr>
        <p:spPr>
          <a:xfrm>
            <a:off x="9006840" y="2560320"/>
            <a:ext cx="2697480" cy="64008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发帖者从不回到自己的帖子</a:t>
            </a:r>
          </a:p>
        </p:txBody>
      </p:sp>
      <p:sp>
        <p:nvSpPr>
          <p:cNvPr id="33" name="Finding num 4"/>
          <p:cNvSpPr/>
          <p:nvPr/>
        </p:nvSpPr>
        <p:spPr>
          <a:xfrm>
            <a:off x="7498079" y="3383280"/>
            <a:ext cx="1463040" cy="640080"/>
          </a:xfrm>
          <a:prstGeom prst="rect">
            <a:avLst/>
          </a:prstGeom>
          <a:noFill/>
          <a:ln/>
        </p:spPr>
        <p:txBody>
          <a:bodyPr wrap="square" lIns="91440" tIns="45720" rIns="91440" bIns="45720" rtlCol="0" anchor="ctr"/>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97.3%</a:t>
            </a:r>
          </a:p>
        </p:txBody>
      </p:sp>
      <p:sp>
        <p:nvSpPr>
          <p:cNvPr id="43" name="Finding label 4"/>
          <p:cNvSpPr/>
          <p:nvPr/>
        </p:nvSpPr>
        <p:spPr>
          <a:xfrm>
            <a:off x="9006840" y="3383280"/>
            <a:ext cx="2697480" cy="64008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评论没有获得任何点赞</a:t>
            </a:r>
          </a:p>
        </p:txBody>
      </p:sp>
      <p:sp>
        <p:nvSpPr>
          <p:cNvPr id="34" name="Finding num 5"/>
          <p:cNvSpPr/>
          <p:nvPr/>
        </p:nvSpPr>
        <p:spPr>
          <a:xfrm>
            <a:off x="7498079" y="4206240"/>
            <a:ext cx="1463040" cy="640080"/>
          </a:xfrm>
          <a:prstGeom prst="rect">
            <a:avLst/>
          </a:prstGeom>
          <a:noFill/>
          <a:ln/>
        </p:spPr>
        <p:txBody>
          <a:bodyPr wrap="square" lIns="91440" tIns="45720" rIns="91440" bIns="45720" rtlCol="0" anchor="ctr"/>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64.6%</a:t>
            </a:r>
          </a:p>
        </p:txBody>
      </p:sp>
      <p:sp>
        <p:nvSpPr>
          <p:cNvPr id="44" name="Finding label 5"/>
          <p:cNvSpPr/>
          <p:nvPr/>
        </p:nvSpPr>
        <p:spPr>
          <a:xfrm>
            <a:off x="9006840" y="4206240"/>
            <a:ext cx="2697480" cy="64008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评论与帖子之间没有论证关系</a:t>
            </a:r>
          </a:p>
        </p:txBody>
      </p:sp>
      <p:sp>
        <p:nvSpPr>
          <p:cNvPr id="35" name="Finding num 6"/>
          <p:cNvSpPr/>
          <p:nvPr/>
        </p:nvSpPr>
        <p:spPr>
          <a:xfrm>
            <a:off x="7498079" y="5029200"/>
            <a:ext cx="1463040" cy="640080"/>
          </a:xfrm>
          <a:prstGeom prst="rect">
            <a:avLst/>
          </a:prstGeom>
          <a:noFill/>
          <a:ln/>
        </p:spPr>
        <p:txBody>
          <a:bodyPr wrap="square" lIns="91440" tIns="45720" rIns="91440" bIns="45720" rtlCol="0" anchor="ctr"/>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92.5%</a:t>
            </a:r>
          </a:p>
        </p:txBody>
      </p:sp>
      <p:sp>
        <p:nvSpPr>
          <p:cNvPr id="45" name="Finding label 6"/>
          <p:cNvSpPr/>
          <p:nvPr/>
        </p:nvSpPr>
        <p:spPr>
          <a:xfrm>
            <a:off x="9006840" y="5029200"/>
            <a:ext cx="2697480" cy="64008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社区主题是“大杂烩”（≥10 帖的社区）</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6" name="Text 4"/>
          <p:cNvSpPr/>
          <p:nvPr/>
        </p:nvSpPr>
        <p:spPr>
          <a:xfrm>
            <a:off x="718718" y="868680"/>
            <a:ext cx="10753344" cy="731520"/>
          </a:xfrm>
          <a:prstGeom prst="rect">
            <a:avLst/>
          </a:prstGeom>
          <a:noFill/>
          <a:ln/>
        </p:spPr>
        <p:txBody>
          <a:bodyPr wrap="square" lIns="91440" tIns="45720" rIns="91440" bIns="45720" rtlCol="0" anchor="t"/>
          <a:lstStyle/>
          <a:p>
            <a:pPr algn="l" indent="0" marL="0">
              <a:buNone/>
            </a:pPr>
            <a:r>
              <a:rPr lang="en-US" sz="3600" dirty="0">
                <a:solidFill>
                  <a:srgbClr val="0D0D0D"/>
                </a:solidFill>
                <a:latin typeface="Noto Sans SC" pitchFamily="34" charset="0"/>
                <a:ea typeface="Noto Sans SC" pitchFamily="34" charset="-122"/>
                <a:cs typeface="Noto Sans SC" pitchFamily="34" charset="-120"/>
              </a:rPr>
              <a:t>四篇文献概览</a:t>
            </a:r>
          </a:p>
        </p:txBody>
      </p:sp>
      <p:sp>
        <p:nvSpPr>
          <p:cNvPr id="16" name="Text 14"/>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graphicFrame>
        <p:nvGraphicFramePr>
          <p:cNvPr id="40" name="Overview Table"/>
          <p:cNvGraphicFramePr>
            <a:graphicFrameLocks noGrp="1"/>
          </p:cNvGraphicFramePr>
          <p:nvPr/>
        </p:nvGraphicFramePr>
        <p:xfrm>
          <a:off x="718718" y="1828800"/>
          <a:ext cx="10753344" cy="4069080"/>
        </p:xfrm>
        <a:graphic>
          <a:graphicData uri="http://schemas.openxmlformats.org/drawingml/2006/table">
            <a:tbl>
              <a:tblPr firstRow="1"/>
              <a:tblGrid>
                <a:gridCol w="411480"/>
                <a:gridCol w="4343400"/>
                <a:gridCol w="2240280"/>
                <a:gridCol w="1691640"/>
                <a:gridCol w="2066543"/>
              </a:tblGrid>
              <a:tr h="457200">
                <a:tc>
                  <a:txBody>
                    <a:bodyPr wrap="square"/>
                    <a:lstStyle/>
                    <a:p>
                      <a:r>
                        <a:rPr sz="1400" b="1">
                          <a:solidFill>
                            <a:srgbClr val="102C57"/>
                          </a:solidFill>
                          <a:latin typeface="Noto Sans SC"/>
                          <a:ea typeface="Noto Sans SC"/>
                        </a:rPr>
                        <a:t>#</a:t>
                      </a:r>
                    </a:p>
                  </a:txBody>
                  <a:tcPr marL="73152" marR="73152" marT="54864" marB="54864" anchor="ctr">
                    <a:lnL w="0">
                      <a:noFill/>
                    </a:lnL>
                    <a:lnR w="0">
                      <a:noFill/>
                    </a:lnR>
                    <a:lnT w="9525">
                      <a:solidFill>
                        <a:srgbClr val="BFBFBF"/>
                      </a:solidFill>
                    </a:lnT>
                    <a:lnB w="9525">
                      <a:solidFill>
                        <a:srgbClr val="BFBFBF"/>
                      </a:solidFill>
                    </a:lnB>
                    <a:solidFill>
                      <a:srgbClr val="F5F5F5"/>
                    </a:solidFill>
                  </a:tcPr>
                </a:tc>
                <a:tc>
                  <a:txBody>
                    <a:bodyPr wrap="square"/>
                    <a:lstStyle/>
                    <a:p>
                      <a:r>
                        <a:rPr sz="1400" b="1">
                          <a:solidFill>
                            <a:srgbClr val="102C57"/>
                          </a:solidFill>
                          <a:latin typeface="Noto Sans SC"/>
                          <a:ea typeface="Noto Sans SC"/>
                        </a:rPr>
                        <a:t>论文（标题 / 作者）</a:t>
                      </a:r>
                    </a:p>
                  </a:txBody>
                  <a:tcPr marL="73152" marR="73152" marT="54864" marB="54864" anchor="ctr">
                    <a:lnL w="0">
                      <a:noFill/>
                    </a:lnL>
                    <a:lnR w="0">
                      <a:noFill/>
                    </a:lnR>
                    <a:lnT w="9525">
                      <a:solidFill>
                        <a:srgbClr val="BFBFBF"/>
                      </a:solidFill>
                    </a:lnT>
                    <a:lnB w="9525">
                      <a:solidFill>
                        <a:srgbClr val="BFBFBF"/>
                      </a:solidFill>
                    </a:lnB>
                    <a:solidFill>
                      <a:srgbClr val="F5F5F5"/>
                    </a:solidFill>
                  </a:tcPr>
                </a:tc>
                <a:tc>
                  <a:txBody>
                    <a:bodyPr wrap="square"/>
                    <a:lstStyle/>
                    <a:p>
                      <a:r>
                        <a:rPr sz="1400" b="1">
                          <a:solidFill>
                            <a:srgbClr val="102C57"/>
                          </a:solidFill>
                          <a:latin typeface="Noto Sans SC"/>
                          <a:ea typeface="Noto Sans SC"/>
                        </a:rPr>
                        <a:t>机构</a:t>
                      </a:r>
                    </a:p>
                  </a:txBody>
                  <a:tcPr marL="73152" marR="73152" marT="54864" marB="54864" anchor="ctr">
                    <a:lnL w="0">
                      <a:noFill/>
                    </a:lnL>
                    <a:lnR w="0">
                      <a:noFill/>
                    </a:lnR>
                    <a:lnT w="9525">
                      <a:solidFill>
                        <a:srgbClr val="BFBFBF"/>
                      </a:solidFill>
                    </a:lnT>
                    <a:lnB w="9525">
                      <a:solidFill>
                        <a:srgbClr val="BFBFBF"/>
                      </a:solidFill>
                    </a:lnB>
                    <a:solidFill>
                      <a:srgbClr val="F5F5F5"/>
                    </a:solidFill>
                  </a:tcPr>
                </a:tc>
                <a:tc>
                  <a:txBody>
                    <a:bodyPr wrap="square"/>
                    <a:lstStyle/>
                    <a:p>
                      <a:r>
                        <a:rPr sz="1400" b="1">
                          <a:solidFill>
                            <a:srgbClr val="102C57"/>
                          </a:solidFill>
                          <a:latin typeface="Noto Sans SC"/>
                          <a:ea typeface="Noto Sans SC"/>
                        </a:rPr>
                        <a:t>研究平台</a:t>
                      </a:r>
                    </a:p>
                  </a:txBody>
                  <a:tcPr marL="73152" marR="73152" marT="54864" marB="54864" anchor="ctr">
                    <a:lnL w="0">
                      <a:noFill/>
                    </a:lnL>
                    <a:lnR w="0">
                      <a:noFill/>
                    </a:lnR>
                    <a:lnT w="9525">
                      <a:solidFill>
                        <a:srgbClr val="BFBFBF"/>
                      </a:solidFill>
                    </a:lnT>
                    <a:lnB w="9525">
                      <a:solidFill>
                        <a:srgbClr val="BFBFBF"/>
                      </a:solidFill>
                    </a:lnB>
                    <a:solidFill>
                      <a:srgbClr val="F5F5F5"/>
                    </a:solidFill>
                  </a:tcPr>
                </a:tc>
                <a:tc>
                  <a:txBody>
                    <a:bodyPr wrap="square"/>
                    <a:lstStyle/>
                    <a:p>
                      <a:r>
                        <a:rPr sz="1400" b="1">
                          <a:solidFill>
                            <a:srgbClr val="102C57"/>
                          </a:solidFill>
                          <a:latin typeface="Noto Sans SC"/>
                          <a:ea typeface="Noto Sans SC"/>
                        </a:rPr>
                        <a:t>发表状态</a:t>
                      </a:r>
                    </a:p>
                  </a:txBody>
                  <a:tcPr marL="73152" marR="73152" marT="54864" marB="54864" anchor="ctr">
                    <a:lnL w="0">
                      <a:noFill/>
                    </a:lnL>
                    <a:lnR w="0">
                      <a:noFill/>
                    </a:lnR>
                    <a:lnT w="9525">
                      <a:solidFill>
                        <a:srgbClr val="BFBFBF"/>
                      </a:solidFill>
                    </a:lnT>
                    <a:lnB w="9525">
                      <a:solidFill>
                        <a:srgbClr val="BFBFBF"/>
                      </a:solidFill>
                    </a:lnB>
                    <a:solidFill>
                      <a:srgbClr val="F5F5F5"/>
                    </a:solidFill>
                  </a:tcPr>
                </a:tc>
              </a:tr>
              <a:tr h="1005840">
                <a:tc>
                  <a:txBody>
                    <a:bodyPr wrap="square"/>
                    <a:lstStyle/>
                    <a:p>
                      <a:r>
                        <a:rPr sz="1400" b="0">
                          <a:solidFill>
                            <a:srgbClr val="262626"/>
                          </a:solidFill>
                          <a:latin typeface="Noto Sans SC"/>
                          <a:ea typeface="Noto Sans SC"/>
                        </a:rPr>
                        <a:t>1</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262626"/>
                          </a:solidFill>
                          <a:latin typeface="Noto Sans SC"/>
                          <a:ea typeface="Noto Sans SC"/>
                        </a:rPr>
                        <a:t>Unveiling the collective behaviors of large language model-based autonomous agents in an online community: A social network analysis perspective</a:t>
                      </a:r>
                    </a:p>
                    <a:p>
                      <a:r>
                        <a:rPr sz="1400" b="0">
                          <a:solidFill>
                            <a:srgbClr val="808080"/>
                          </a:solidFill>
                          <a:latin typeface="Noto Sans SC"/>
                          <a:ea typeface="Noto Sans SC"/>
                        </a:rPr>
                        <a:t>Chen, Wang, Ren</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404040"/>
                          </a:solidFill>
                          <a:latin typeface="Noto Sans SC"/>
                          <a:ea typeface="Noto Sans SC"/>
                        </a:rPr>
                        <a:t>Renmin University of China; National University of Singapore</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262626"/>
                          </a:solidFill>
                          <a:latin typeface="Noto Sans SC"/>
                          <a:ea typeface="Noto Sans SC"/>
                        </a:rPr>
                        <a:t>Chirper</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404040"/>
                          </a:solidFill>
                          <a:latin typeface="Noto Sans SC"/>
                          <a:ea typeface="Noto Sans SC"/>
                        </a:rPr>
                        <a:t>已发表：Data and Information Management, 2026</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r>
              <a:tr h="868680">
                <a:tc>
                  <a:txBody>
                    <a:bodyPr wrap="square"/>
                    <a:lstStyle/>
                    <a:p>
                      <a:r>
                        <a:rPr sz="1400" b="0">
                          <a:solidFill>
                            <a:srgbClr val="262626"/>
                          </a:solidFill>
                          <a:latin typeface="Noto Sans SC"/>
                          <a:ea typeface="Noto Sans SC"/>
                        </a:rPr>
                        <a:t>2</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262626"/>
                          </a:solidFill>
                          <a:latin typeface="Noto Sans SC"/>
                          <a:ea typeface="Noto Sans SC"/>
                        </a:rPr>
                        <a:t>Are LLM-Powered Social Media Bots Realistic?</a:t>
                      </a:r>
                    </a:p>
                    <a:p>
                      <a:r>
                        <a:rPr sz="1400" b="0">
                          <a:solidFill>
                            <a:srgbClr val="808080"/>
                          </a:solidFill>
                          <a:latin typeface="Noto Sans SC"/>
                          <a:ea typeface="Noto Sans SC"/>
                        </a:rPr>
                        <a:t>Ng, Carley</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404040"/>
                          </a:solidFill>
                          <a:latin typeface="Noto Sans SC"/>
                          <a:ea typeface="Noto Sans SC"/>
                        </a:rPr>
                        <a:t>Carnegie Mellon University</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262626"/>
                          </a:solidFill>
                          <a:latin typeface="Noto Sans SC"/>
                          <a:ea typeface="Noto Sans SC"/>
                        </a:rPr>
                        <a:t>模拟的 Twitter/X 机器人网络</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404040"/>
                          </a:solidFill>
                          <a:latin typeface="Noto Sans SC"/>
                          <a:ea typeface="Noto Sans SC"/>
                        </a:rPr>
                        <a:t>已发表：SBP-BRiMS 2025 (LNCS 16127)</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r>
              <a:tr h="868680">
                <a:tc>
                  <a:txBody>
                    <a:bodyPr wrap="square"/>
                    <a:lstStyle/>
                    <a:p>
                      <a:r>
                        <a:rPr sz="1400" b="0">
                          <a:solidFill>
                            <a:srgbClr val="262626"/>
                          </a:solidFill>
                          <a:latin typeface="Noto Sans SC"/>
                          <a:ea typeface="Noto Sans SC"/>
                        </a:rPr>
                        <a:t>3</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262626"/>
                          </a:solidFill>
                          <a:latin typeface="Noto Sans SC"/>
                          <a:ea typeface="Noto Sans SC"/>
                        </a:rPr>
                        <a:t>Form Without Function: Agent Social Behavior in the Moltbook Network</a:t>
                      </a:r>
                    </a:p>
                    <a:p>
                      <a:r>
                        <a:rPr sz="1400" b="0">
                          <a:solidFill>
                            <a:srgbClr val="808080"/>
                          </a:solidFill>
                          <a:latin typeface="Noto Sans SC"/>
                          <a:ea typeface="Noto Sans SC"/>
                        </a:rPr>
                        <a:t>Zerhoudi et al. (12 位作者)</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404040"/>
                          </a:solidFill>
                          <a:latin typeface="Noto Sans SC"/>
                          <a:ea typeface="Noto Sans SC"/>
                        </a:rPr>
                        <a:t>University of Passau</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262626"/>
                          </a:solidFill>
                          <a:latin typeface="Noto Sans SC"/>
                          <a:ea typeface="Noto Sans SC"/>
                        </a:rPr>
                        <a:t>Moltbook</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404040"/>
                          </a:solidFill>
                          <a:latin typeface="Noto Sans SC"/>
                          <a:ea typeface="Noto Sans SC"/>
                        </a:rPr>
                        <a:t>预印本：arXiv 2604.13052</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r>
              <a:tr h="868680">
                <a:tc>
                  <a:txBody>
                    <a:bodyPr wrap="square"/>
                    <a:lstStyle/>
                    <a:p>
                      <a:r>
                        <a:rPr sz="1400" b="0">
                          <a:solidFill>
                            <a:srgbClr val="262626"/>
                          </a:solidFill>
                          <a:latin typeface="Noto Sans SC"/>
                          <a:ea typeface="Noto Sans SC"/>
                        </a:rPr>
                        <a:t>4</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262626"/>
                          </a:solidFill>
                          <a:latin typeface="Noto Sans SC"/>
                          <a:ea typeface="Noto Sans SC"/>
                        </a:rPr>
                        <a:t>Collective Behavior of AI Agents: the Case of Moltbook</a:t>
                      </a:r>
                    </a:p>
                    <a:p>
                      <a:r>
                        <a:rPr sz="1400" b="0">
                          <a:solidFill>
                            <a:srgbClr val="808080"/>
                          </a:solidFill>
                          <a:latin typeface="Noto Sans SC"/>
                          <a:ea typeface="Noto Sans SC"/>
                        </a:rPr>
                        <a:t>De Marzo, Marin, Garcia</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404040"/>
                          </a:solidFill>
                          <a:latin typeface="Noto Sans SC"/>
                          <a:ea typeface="Noto Sans SC"/>
                        </a:rPr>
                        <a:t>University of Konstanz; Complexity Science Hub</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262626"/>
                          </a:solidFill>
                          <a:latin typeface="Noto Sans SC"/>
                          <a:ea typeface="Noto Sans SC"/>
                        </a:rPr>
                        <a:t>Moltbook</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c>
                  <a:txBody>
                    <a:bodyPr wrap="square"/>
                    <a:lstStyle/>
                    <a:p>
                      <a:r>
                        <a:rPr sz="1400" b="0">
                          <a:solidFill>
                            <a:srgbClr val="404040"/>
                          </a:solidFill>
                          <a:latin typeface="Noto Sans SC"/>
                          <a:ea typeface="Noto Sans SC"/>
                        </a:rPr>
                        <a:t>预印本：arXiv 2602.09270</a:t>
                      </a:r>
                    </a:p>
                  </a:txBody>
                  <a:tcPr marL="73152" marR="73152" marT="54864" marB="54864" anchor="ctr">
                    <a:lnL w="0">
                      <a:noFill/>
                    </a:lnL>
                    <a:lnR w="0">
                      <a:no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42716" y="0"/>
            <a:ext cx="8749894" cy="6858000"/>
          </a:xfrm>
          <a:prstGeom prst="rect">
            <a:avLst/>
          </a:prstGeom>
          <a:ln/>
        </p:spPr>
      </p:sp>
      <p:sp>
        <p:nvSpPr>
          <p:cNvPr id="3" name="Shape 1"/>
          <p:cNvSpPr/>
          <p:nvPr/>
        </p:nvSpPr>
        <p:spPr>
          <a:xfrm>
            <a:off x="3749039" y="3429000"/>
            <a:ext cx="7818120" cy="2240280"/>
          </a:xfrm>
          <a:prstGeom prst="rect">
            <a:avLst/>
          </a:prstGeom>
          <a:solidFill>
            <a:srgbClr val="F5F5F5"/>
          </a:solidFill>
          <a:ln w="9525">
            <a:solidFill>
              <a:srgbClr val="D9D9D9"/>
            </a:solidFill>
          </a:ln>
        </p:spPr>
      </p:sp>
      <p:sp>
        <p:nvSpPr>
          <p:cNvPr id="4" name="Text 2"/>
          <p:cNvSpPr/>
          <p:nvPr/>
        </p:nvSpPr>
        <p:spPr>
          <a:xfrm>
            <a:off x="535838" y="1691640"/>
            <a:ext cx="2834640" cy="1325880"/>
          </a:xfrm>
          <a:prstGeom prst="rect">
            <a:avLst/>
          </a:prstGeom>
          <a:noFill/>
          <a:ln/>
        </p:spPr>
        <p:txBody>
          <a:bodyPr wrap="square" lIns="91440" tIns="45720" rIns="91440" bIns="45720" rtlCol="0" anchor="t"/>
          <a:lstStyle/>
          <a:p>
            <a:pPr algn="l" indent="0" marL="0">
              <a:lnSpc>
                <a:spcPct val="130000"/>
              </a:lnSpc>
              <a:buNone/>
            </a:pPr>
            <a:r>
              <a:rPr lang="en-US" sz="1400" dirty="0" b="0">
                <a:solidFill>
                  <a:srgbClr val="404040"/>
                </a:solidFill>
                <a:latin typeface="Noto Sans SC" pitchFamily="34" charset="0"/>
                <a:ea typeface="Noto Sans SC" pitchFamily="34" charset="-122"/>
                <a:cs typeface="Noto Sans SC" pitchFamily="34" charset="-120"/>
              </a:rPr>
              <a:t>Chirper 公开数据集（S. Li, Zhang &amp; Sun, 2023），时间跨度 2023 年 4–6 月；包含智能体资料、互动历史和帖子。</a:t>
            </a:r>
          </a:p>
        </p:txBody>
      </p:sp>
      <p:sp>
        <p:nvSpPr>
          <p:cNvPr id="5" name="Shape 3"/>
          <p:cNvSpPr/>
          <p:nvPr/>
        </p:nvSpPr>
        <p:spPr>
          <a:xfrm>
            <a:off x="646480" y="3108960"/>
            <a:ext cx="2651760" cy="0"/>
          </a:xfrm>
          <a:prstGeom prst="line">
            <a:avLst/>
          </a:prstGeom>
          <a:noFill/>
          <a:ln w="9525">
            <a:solidFill>
              <a:srgbClr val="404040"/>
            </a:solidFill>
            <a:prstDash val="solid"/>
          </a:ln>
        </p:spPr>
      </p:sp>
      <p:sp>
        <p:nvSpPr>
          <p:cNvPr id="6" name="Text 4"/>
          <p:cNvSpPr/>
          <p:nvPr/>
        </p:nvSpPr>
        <p:spPr>
          <a:xfrm>
            <a:off x="558698" y="3154680"/>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数据集</a:t>
            </a:r>
          </a:p>
        </p:txBody>
      </p:sp>
      <p:sp>
        <p:nvSpPr>
          <p:cNvPr id="7" name="Text 5"/>
          <p:cNvSpPr/>
          <p:nvPr/>
        </p:nvSpPr>
        <p:spPr>
          <a:xfrm>
            <a:off x="535838" y="3611880"/>
            <a:ext cx="2834640" cy="1325880"/>
          </a:xfrm>
          <a:prstGeom prst="rect">
            <a:avLst/>
          </a:prstGeom>
          <a:noFill/>
          <a:ln/>
        </p:spPr>
        <p:txBody>
          <a:bodyPr wrap="square" lIns="91440" tIns="45720" rIns="91440" bIns="45720" rtlCol="0" anchor="t"/>
          <a:lstStyle/>
          <a:p>
            <a:pPr algn="l" indent="0" marL="0">
              <a:lnSpc>
                <a:spcPct val="130000"/>
              </a:lnSpc>
              <a:buNone/>
            </a:pPr>
            <a:r>
              <a:rPr lang="en-US" sz="1400" dirty="0" b="0">
                <a:solidFill>
                  <a:srgbClr val="404040"/>
                </a:solidFill>
                <a:latin typeface="Noto Sans SC" pitchFamily="34" charset="0"/>
                <a:ea typeface="Noto Sans SC" pitchFamily="34" charset="-122"/>
                <a:cs typeface="Noto Sans SC" pitchFamily="34" charset="-120"/>
              </a:rPr>
              <a:t>帖子含英、中、日、德、西五种语言；英文子频道 20,814 个账号，中文 11,288 个，其余语言各不足 100 个。</a:t>
            </a:r>
          </a:p>
        </p:txBody>
      </p:sp>
      <p:sp>
        <p:nvSpPr>
          <p:cNvPr id="8" name="Shape 6"/>
          <p:cNvSpPr/>
          <p:nvPr/>
        </p:nvSpPr>
        <p:spPr>
          <a:xfrm>
            <a:off x="646480" y="5029200"/>
            <a:ext cx="2651760" cy="0"/>
          </a:xfrm>
          <a:prstGeom prst="line">
            <a:avLst/>
          </a:prstGeom>
          <a:noFill/>
          <a:ln w="9525">
            <a:solidFill>
              <a:srgbClr val="404040"/>
            </a:solidFill>
            <a:prstDash val="solid"/>
          </a:ln>
        </p:spPr>
      </p:sp>
      <p:sp>
        <p:nvSpPr>
          <p:cNvPr id="9" name="Text 7"/>
          <p:cNvSpPr/>
          <p:nvPr/>
        </p:nvSpPr>
        <p:spPr>
          <a:xfrm>
            <a:off x="558698" y="5074920"/>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语言与规模</a:t>
            </a:r>
          </a:p>
        </p:txBody>
      </p:sp>
      <p:sp>
        <p:nvSpPr>
          <p:cNvPr id="10" name="Text 8"/>
          <p:cNvSpPr/>
          <p:nvPr/>
        </p:nvSpPr>
        <p:spPr>
          <a:xfrm>
            <a:off x="4023360" y="3611880"/>
            <a:ext cx="7269480" cy="1325880"/>
          </a:xfrm>
          <a:prstGeom prst="rect">
            <a:avLst/>
          </a:prstGeom>
          <a:noFill/>
          <a:ln/>
        </p:spPr>
        <p:txBody>
          <a:bodyPr wrap="square" lIns="91440" tIns="45720" rIns="91440" bIns="45720" rtlCol="0" anchor="t"/>
          <a:lstStyle/>
          <a:p>
            <a:pPr algn="l" indent="0" marL="0">
              <a:lnSpc>
                <a:spcPct val="130000"/>
              </a:lnSpc>
              <a:buNone/>
            </a:pPr>
            <a:r>
              <a:rPr lang="en-US" sz="1600" dirty="0" b="0">
                <a:solidFill>
                  <a:srgbClr val="262626"/>
                </a:solidFill>
                <a:latin typeface="Noto Sans SC" pitchFamily="34" charset="0"/>
                <a:ea typeface="Noto Sans SC" pitchFamily="34" charset="-122"/>
                <a:cs typeface="Noto Sans SC" pitchFamily="34" charset="-120"/>
              </a:rPr>
              <a:t>网络构建：节点 = 智能体；A → B 表示 A 点赞了 B 的帖子，边权 = 点赞次数。选“点赞”是因为它是 Chirper 上最常见、最省力的社交互动。</a:t>
            </a:r>
          </a:p>
        </p:txBody>
      </p:sp>
      <p:sp>
        <p:nvSpPr>
          <p:cNvPr id="11" name="Shape 9"/>
          <p:cNvSpPr/>
          <p:nvPr/>
        </p:nvSpPr>
        <p:spPr>
          <a:xfrm>
            <a:off x="4114800" y="5029200"/>
            <a:ext cx="7086600" cy="0"/>
          </a:xfrm>
          <a:prstGeom prst="line">
            <a:avLst/>
          </a:prstGeom>
          <a:noFill/>
          <a:ln w="9525">
            <a:solidFill>
              <a:srgbClr val="BFBFBF"/>
            </a:solidFill>
            <a:prstDash val="solid"/>
          </a:ln>
        </p:spPr>
      </p:sp>
      <p:sp>
        <p:nvSpPr>
          <p:cNvPr id="12" name="Text 10"/>
          <p:cNvSpPr/>
          <p:nvPr/>
        </p:nvSpPr>
        <p:spPr>
          <a:xfrm>
            <a:off x="4023360" y="5084064"/>
            <a:ext cx="7269480" cy="365760"/>
          </a:xfrm>
          <a:prstGeom prst="rect">
            <a:avLst/>
          </a:prstGeom>
          <a:noFill/>
          <a:ln/>
        </p:spPr>
        <p:txBody>
          <a:bodyPr wrap="square" lIns="91440" tIns="45720" rIns="91440" bIns="45720" rtlCol="0" anchor="t"/>
          <a:lstStyle/>
          <a:p>
            <a:pPr algn="l" indent="0" marL="0">
              <a:buNone/>
            </a:pPr>
            <a:r>
              <a:rPr lang="en-US" sz="1400" dirty="0" b="0">
                <a:solidFill>
                  <a:srgbClr val="595959"/>
                </a:solidFill>
                <a:latin typeface="Noto Sans SC" pitchFamily="34" charset="0"/>
                <a:ea typeface="Noto Sans SC" pitchFamily="34" charset="-122"/>
                <a:cs typeface="Noto Sans SC" pitchFamily="34" charset="-120"/>
              </a:rPr>
              <a:t>两节点间最多 46 次点赞；多数边权 &lt; 10；5 月为活跃高峰</a:t>
            </a:r>
          </a:p>
        </p:txBody>
      </p:sp>
      <p:sp>
        <p:nvSpPr>
          <p:cNvPr id="13" name="Text 11"/>
          <p:cNvSpPr/>
          <p:nvPr/>
        </p:nvSpPr>
        <p:spPr>
          <a:xfrm>
            <a:off x="524866"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4" name="Text 12"/>
          <p:cNvSpPr/>
          <p:nvPr/>
        </p:nvSpPr>
        <p:spPr>
          <a:xfrm>
            <a:off x="581558" y="6187653"/>
            <a:ext cx="1933042" cy="245974"/>
          </a:xfrm>
          <a:prstGeom prst="rect">
            <a:avLst/>
          </a:prstGeom>
          <a:noFill/>
          <a:ln/>
        </p:spPr>
        <p:txBody>
          <a:bodyPr wrap="square" lIns="91440" tIns="45720" rIns="91440" bIns="45720" rtlCol="0" anchor="t"/>
          <a:lstStyle/>
          <a:p>
            <a:pPr indent="0" marL="0">
              <a:buNone/>
            </a:pPr>
            <a:r>
              <a:rPr lang="en-US" sz="1000" b="1" dirty="0">
                <a:solidFill>
                  <a:srgbClr val="404040"/>
                </a:solidFill>
                <a:latin typeface="Noto Sans SC" pitchFamily="34" charset="0"/>
                <a:ea typeface="Noto Sans SC" pitchFamily="34" charset="-122"/>
                <a:cs typeface="Noto Sans SC" pitchFamily="34" charset="-120"/>
              </a:rPr>
              <a:t>论文</a:t>
            </a:r>
            <a:r>
              <a:rPr lang="en-US" sz="1000" dirty="0">
                <a:solidFill>
                  <a:srgbClr val="404040"/>
                </a:solidFill>
                <a:latin typeface="Noto Sans SC" pitchFamily="34" charset="0"/>
                <a:ea typeface="Noto Sans SC" pitchFamily="34" charset="-122"/>
                <a:cs typeface="Noto Sans SC" pitchFamily="34" charset="-120"/>
              </a:rPr>
              <a:t> 研讨</a:t>
            </a:r>
            <a:endParaRPr lang="en-US" sz="1000" dirty="0"/>
          </a:p>
        </p:txBody>
      </p:sp>
      <p:sp>
        <p:nvSpPr>
          <p:cNvPr id="15" name="Shape 13"/>
          <p:cNvSpPr/>
          <p:nvPr/>
        </p:nvSpPr>
        <p:spPr>
          <a:xfrm>
            <a:off x="1862907" y="6320790"/>
            <a:ext cx="445770" cy="0"/>
          </a:xfrm>
          <a:prstGeom prst="line">
            <a:avLst/>
          </a:prstGeom>
          <a:noFill/>
          <a:ln w="12700">
            <a:solidFill>
              <a:srgbClr val="0D0D0D"/>
            </a:solidFill>
            <a:prstDash val="solid"/>
          </a:ln>
        </p:spPr>
      </p:sp>
      <p:sp>
        <p:nvSpPr>
          <p:cNvPr id="16" name="Text 14"/>
          <p:cNvSpPr/>
          <p:nvPr/>
        </p:nvSpPr>
        <p:spPr>
          <a:xfrm>
            <a:off x="2228667"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102C57"/>
                </a:solidFill>
                <a:latin typeface="Noto Sans SC" pitchFamily="34" charset="0"/>
                <a:ea typeface="Noto Sans SC" pitchFamily="34" charset="-122"/>
                <a:cs typeface="Noto Sans SC" pitchFamily="34" charset="-120"/>
              </a:rPr>
              <a:t>共 16 页</a:t>
            </a:r>
          </a:p>
        </p:txBody>
      </p:sp>
      <p:sp>
        <p:nvSpPr>
          <p:cNvPr id="17" name="Text 15"/>
          <p:cNvSpPr/>
          <p:nvPr/>
        </p:nvSpPr>
        <p:spPr>
          <a:xfrm>
            <a:off x="10629900" y="6267298"/>
            <a:ext cx="1008949" cy="245974"/>
          </a:xfrm>
          <a:prstGeom prst="rect">
            <a:avLst/>
          </a:prstGeom>
          <a:noFill/>
          <a:ln/>
        </p:spPr>
        <p:txBody>
          <a:bodyPr wrap="square" lIns="91440" tIns="45720" rIns="91440" bIns="45720" rtlCol="0" anchor="t"/>
          <a:lstStyle/>
          <a:p>
            <a:pPr algn="r" indent="0" marL="0">
              <a:buNone/>
            </a:pPr>
            <a:r>
              <a:rPr lang="en-US" sz="1000" b="1" dirty="0">
                <a:solidFill>
                  <a:srgbClr val="404040"/>
                </a:solidFill>
                <a:latin typeface="Noto Sans SC" pitchFamily="34" charset="0"/>
                <a:ea typeface="Noto Sans SC" pitchFamily="34" charset="-122"/>
                <a:cs typeface="Noto Sans SC" pitchFamily="34" charset="-120"/>
              </a:rPr>
              <a:t>第 </a:t>
            </a:r>
            <a:r>
              <a:rPr lang="en-US" sz="1000" dirty="0">
                <a:solidFill>
                  <a:srgbClr val="404040"/>
                </a:solidFill>
                <a:latin typeface="Noto Sans SC" pitchFamily="34" charset="0"/>
                <a:ea typeface="Noto Sans SC" pitchFamily="34" charset="-122"/>
                <a:cs typeface="Noto Sans SC" pitchFamily="34" charset="-120"/>
              </a:rPr>
              <a:t>04/16</a:t>
            </a:r>
            <a:endParaRPr lang="en-US" sz="1000" dirty="0"/>
          </a:p>
        </p:txBody>
      </p:sp>
      <p:sp>
        <p:nvSpPr>
          <p:cNvPr id="30" name="Heading"/>
          <p:cNvSpPr/>
          <p:nvPr/>
        </p:nvSpPr>
        <p:spPr>
          <a:xfrm>
            <a:off x="535838" y="777240"/>
            <a:ext cx="10972800" cy="685800"/>
          </a:xfrm>
          <a:prstGeom prst="rect">
            <a:avLst/>
          </a:prstGeom>
          <a:noFill/>
          <a:ln/>
        </p:spPr>
        <p:txBody>
          <a:bodyPr wrap="square" lIns="91440" tIns="45720" rIns="91440" bIns="45720" rtlCol="0" anchor="t"/>
          <a:lstStyle/>
          <a:p>
            <a:pPr algn="l" indent="0" marL="0">
              <a:lnSpc>
                <a:spcPct val="100000"/>
              </a:lnSpc>
              <a:buNone/>
            </a:pPr>
            <a:r>
              <a:rPr lang="en-US" sz="3200" dirty="0" b="0">
                <a:solidFill>
                  <a:srgbClr val="0D0D0D"/>
                </a:solidFill>
                <a:latin typeface="Noto Sans SC" pitchFamily="34" charset="0"/>
                <a:ea typeface="Noto Sans SC" pitchFamily="34" charset="-122"/>
                <a:cs typeface="Noto Sans SC" pitchFamily="34" charset="-120"/>
              </a:rPr>
              <a:t>P1 数据：Chirper 上的“点赞”网络</a:t>
            </a:r>
          </a:p>
        </p:txBody>
      </p:sp>
      <p:sp>
        <p:nvSpPr>
          <p:cNvPr id="31" name="Stat 1"/>
          <p:cNvSpPr/>
          <p:nvPr/>
        </p:nvSpPr>
        <p:spPr>
          <a:xfrm>
            <a:off x="3749039" y="1691640"/>
            <a:ext cx="1920240" cy="640080"/>
          </a:xfrm>
          <a:prstGeom prst="rect">
            <a:avLst/>
          </a:prstGeom>
          <a:noFill/>
          <a:ln/>
        </p:spPr>
        <p:txBody>
          <a:bodyPr wrap="square" lIns="91440" tIns="45720" rIns="91440" bIns="45720" rtlCol="0" anchor="t"/>
          <a:lstStyle/>
          <a:p>
            <a:pPr algn="l" indent="0" marL="0">
              <a:lnSpc>
                <a:spcPct val="100000"/>
              </a:lnSpc>
              <a:buNone/>
            </a:pPr>
            <a:r>
              <a:rPr lang="en-US" sz="3200" dirty="0" b="0">
                <a:solidFill>
                  <a:srgbClr val="102C57"/>
                </a:solidFill>
                <a:latin typeface="Noto Sans SC" pitchFamily="34" charset="0"/>
                <a:ea typeface="Noto Sans SC" pitchFamily="34" charset="-122"/>
                <a:cs typeface="Noto Sans SC" pitchFamily="34" charset="-120"/>
              </a:rPr>
              <a:t>26,369</a:t>
            </a:r>
          </a:p>
        </p:txBody>
      </p:sp>
      <p:sp>
        <p:nvSpPr>
          <p:cNvPr id="35" name="Stat label 1"/>
          <p:cNvSpPr/>
          <p:nvPr/>
        </p:nvSpPr>
        <p:spPr>
          <a:xfrm>
            <a:off x="3749039" y="2331720"/>
            <a:ext cx="1874519" cy="6858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节点（智能体）</a:t>
            </a:r>
          </a:p>
        </p:txBody>
      </p:sp>
      <p:sp>
        <p:nvSpPr>
          <p:cNvPr id="32" name="Stat 2"/>
          <p:cNvSpPr/>
          <p:nvPr/>
        </p:nvSpPr>
        <p:spPr>
          <a:xfrm>
            <a:off x="5696712" y="1691640"/>
            <a:ext cx="1920240" cy="640080"/>
          </a:xfrm>
          <a:prstGeom prst="rect">
            <a:avLst/>
          </a:prstGeom>
          <a:noFill/>
          <a:ln/>
        </p:spPr>
        <p:txBody>
          <a:bodyPr wrap="square" lIns="91440" tIns="45720" rIns="91440" bIns="45720" rtlCol="0" anchor="t"/>
          <a:lstStyle/>
          <a:p>
            <a:pPr algn="l" indent="0" marL="0">
              <a:lnSpc>
                <a:spcPct val="100000"/>
              </a:lnSpc>
              <a:buNone/>
            </a:pPr>
            <a:r>
              <a:rPr lang="en-US" sz="3200" dirty="0" b="0">
                <a:solidFill>
                  <a:srgbClr val="102C57"/>
                </a:solidFill>
                <a:latin typeface="Noto Sans SC" pitchFamily="34" charset="0"/>
                <a:ea typeface="Noto Sans SC" pitchFamily="34" charset="-122"/>
                <a:cs typeface="Noto Sans SC" pitchFamily="34" charset="-120"/>
              </a:rPr>
              <a:t>113,236</a:t>
            </a:r>
          </a:p>
        </p:txBody>
      </p:sp>
      <p:sp>
        <p:nvSpPr>
          <p:cNvPr id="36" name="Stat label 2"/>
          <p:cNvSpPr/>
          <p:nvPr/>
        </p:nvSpPr>
        <p:spPr>
          <a:xfrm>
            <a:off x="5696712" y="2331720"/>
            <a:ext cx="1874519" cy="6858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有向边（含 3,884 个自环）</a:t>
            </a:r>
          </a:p>
        </p:txBody>
      </p:sp>
      <p:sp>
        <p:nvSpPr>
          <p:cNvPr id="33" name="Stat 3"/>
          <p:cNvSpPr/>
          <p:nvPr/>
        </p:nvSpPr>
        <p:spPr>
          <a:xfrm>
            <a:off x="7644383" y="1691640"/>
            <a:ext cx="1920240" cy="640080"/>
          </a:xfrm>
          <a:prstGeom prst="rect">
            <a:avLst/>
          </a:prstGeom>
          <a:noFill/>
          <a:ln/>
        </p:spPr>
        <p:txBody>
          <a:bodyPr wrap="square" lIns="91440" tIns="45720" rIns="91440" bIns="45720" rtlCol="0" anchor="t"/>
          <a:lstStyle/>
          <a:p>
            <a:pPr algn="l" indent="0" marL="0">
              <a:lnSpc>
                <a:spcPct val="100000"/>
              </a:lnSpc>
              <a:buNone/>
            </a:pPr>
            <a:r>
              <a:rPr lang="en-US" sz="3200" dirty="0" b="0">
                <a:solidFill>
                  <a:srgbClr val="102C57"/>
                </a:solidFill>
                <a:latin typeface="Noto Sans SC" pitchFamily="34" charset="0"/>
                <a:ea typeface="Noto Sans SC" pitchFamily="34" charset="-122"/>
                <a:cs typeface="Noto Sans SC" pitchFamily="34" charset="-120"/>
              </a:rPr>
              <a:t>4.29</a:t>
            </a:r>
          </a:p>
        </p:txBody>
      </p:sp>
      <p:sp>
        <p:nvSpPr>
          <p:cNvPr id="37" name="Stat label 3"/>
          <p:cNvSpPr/>
          <p:nvPr/>
        </p:nvSpPr>
        <p:spPr>
          <a:xfrm>
            <a:off x="7644383" y="2331720"/>
            <a:ext cx="1874519" cy="6858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平均入度 = 平均出度</a:t>
            </a:r>
          </a:p>
        </p:txBody>
      </p:sp>
      <p:sp>
        <p:nvSpPr>
          <p:cNvPr id="34" name="Stat 4"/>
          <p:cNvSpPr/>
          <p:nvPr/>
        </p:nvSpPr>
        <p:spPr>
          <a:xfrm>
            <a:off x="9592055" y="1691640"/>
            <a:ext cx="1920240" cy="640080"/>
          </a:xfrm>
          <a:prstGeom prst="rect">
            <a:avLst/>
          </a:prstGeom>
          <a:noFill/>
          <a:ln/>
        </p:spPr>
        <p:txBody>
          <a:bodyPr wrap="square" lIns="91440" tIns="45720" rIns="91440" bIns="45720" rtlCol="0" anchor="t"/>
          <a:lstStyle/>
          <a:p>
            <a:pPr algn="l" indent="0" marL="0">
              <a:lnSpc>
                <a:spcPct val="100000"/>
              </a:lnSpc>
              <a:buNone/>
            </a:pPr>
            <a:r>
              <a:rPr lang="en-US" sz="3200" dirty="0" b="0">
                <a:solidFill>
                  <a:srgbClr val="102C57"/>
                </a:solidFill>
                <a:latin typeface="Noto Sans SC" pitchFamily="34" charset="0"/>
                <a:ea typeface="Noto Sans SC" pitchFamily="34" charset="-122"/>
                <a:cs typeface="Noto Sans SC" pitchFamily="34" charset="-120"/>
              </a:rPr>
              <a:t>0.000163</a:t>
            </a:r>
          </a:p>
        </p:txBody>
      </p:sp>
      <p:sp>
        <p:nvSpPr>
          <p:cNvPr id="38" name="Stat label 4"/>
          <p:cNvSpPr/>
          <p:nvPr/>
        </p:nvSpPr>
        <p:spPr>
          <a:xfrm>
            <a:off x="9592055" y="2331720"/>
            <a:ext cx="1874519" cy="6858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网络密度</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20770" y="0"/>
            <a:ext cx="3173882" cy="6858000"/>
          </a:xfrm>
          <a:prstGeom prst="rect">
            <a:avLst/>
          </a:prstGeom>
          <a:ln/>
        </p:spPr>
      </p:sp>
      <p:sp>
        <p:nvSpPr>
          <p:cNvPr id="3" name="Shape 1"/>
          <p:cNvSpPr/>
          <p:nvPr/>
        </p:nvSpPr>
        <p:spPr>
          <a:xfrm>
            <a:off x="2638958" y="3520440"/>
            <a:ext cx="8887968" cy="2103120"/>
          </a:xfrm>
          <a:prstGeom prst="rect">
            <a:avLst/>
          </a:prstGeom>
          <a:solidFill>
            <a:srgbClr val="F5F5F5"/>
          </a:solidFill>
          <a:ln w="9525">
            <a:solidFill>
              <a:srgbClr val="D9D9D9"/>
            </a:solidFill>
          </a:ln>
        </p:spPr>
      </p:sp>
      <p:sp>
        <p:nvSpPr>
          <p:cNvPr id="4" name="Text 2"/>
          <p:cNvSpPr/>
          <p:nvPr/>
        </p:nvSpPr>
        <p:spPr>
          <a:xfrm>
            <a:off x="7178040" y="777240"/>
            <a:ext cx="4572000" cy="685800"/>
          </a:xfrm>
          <a:prstGeom prst="rect">
            <a:avLst/>
          </a:prstGeom>
          <a:noFill/>
          <a:ln/>
        </p:spPr>
        <p:txBody>
          <a:bodyPr wrap="square" lIns="91440" tIns="45720" rIns="91440" bIns="45720" rtlCol="0" anchor="t"/>
          <a:lstStyle/>
          <a:p>
            <a:pPr algn="l" indent="0" marL="0">
              <a:lnSpc>
                <a:spcPct val="100000"/>
              </a:lnSpc>
              <a:buNone/>
            </a:pPr>
            <a:r>
              <a:rPr lang="en-US" sz="3600" dirty="0" b="0">
                <a:solidFill>
                  <a:srgbClr val="0D0D0D"/>
                </a:solidFill>
                <a:latin typeface="Noto Sans SC" pitchFamily="34" charset="0"/>
                <a:ea typeface="Noto Sans SC" pitchFamily="34" charset="-122"/>
                <a:cs typeface="Noto Sans SC" pitchFamily="34" charset="-120"/>
              </a:rPr>
              <a:t>P4 结论：</a:t>
            </a:r>
          </a:p>
        </p:txBody>
      </p:sp>
      <p:sp>
        <p:nvSpPr>
          <p:cNvPr id="5" name="Text 3"/>
          <p:cNvSpPr/>
          <p:nvPr/>
        </p:nvSpPr>
        <p:spPr>
          <a:xfrm>
            <a:off x="7178040" y="1325880"/>
            <a:ext cx="4572000" cy="685800"/>
          </a:xfrm>
          <a:prstGeom prst="rect">
            <a:avLst/>
          </a:prstGeom>
          <a:noFill/>
          <a:ln/>
        </p:spPr>
        <p:txBody>
          <a:bodyPr wrap="square" lIns="91440" tIns="45720" rIns="91440" bIns="45720" rtlCol="0" anchor="t"/>
          <a:lstStyle/>
          <a:p>
            <a:pPr algn="l" indent="0" marL="0">
              <a:lnSpc>
                <a:spcPct val="100000"/>
              </a:lnSpc>
              <a:buNone/>
            </a:pPr>
            <a:r>
              <a:rPr lang="en-US" sz="3600" dirty="0" b="0">
                <a:solidFill>
                  <a:srgbClr val="0D0D0D"/>
                </a:solidFill>
                <a:latin typeface="Noto Sans SC" pitchFamily="34" charset="0"/>
                <a:ea typeface="Noto Sans SC" pitchFamily="34" charset="-122"/>
                <a:cs typeface="Noto Sans SC" pitchFamily="34" charset="-120"/>
              </a:rPr>
              <a:t>集体行为像人类</a:t>
            </a:r>
          </a:p>
        </p:txBody>
      </p:sp>
      <p:sp>
        <p:nvSpPr>
          <p:cNvPr id="6" name="Text 4"/>
          <p:cNvSpPr/>
          <p:nvPr/>
        </p:nvSpPr>
        <p:spPr>
          <a:xfrm>
            <a:off x="7232904" y="2103120"/>
            <a:ext cx="4206240" cy="274320"/>
          </a:xfrm>
          <a:prstGeom prst="rect">
            <a:avLst/>
          </a:prstGeom>
          <a:noFill/>
          <a:ln/>
        </p:spPr>
        <p:txBody>
          <a:bodyPr wrap="square" lIns="91440" tIns="45720" rIns="91440" bIns="45720" rtlCol="0" anchor="t"/>
          <a:lstStyle/>
          <a:p>
            <a:pPr algn="l" indent="0" marL="0">
              <a:buNone/>
            </a:pPr>
            <a:r>
              <a:rPr lang="en-US" sz="1200" b="1" kern="0" dirty="0">
                <a:solidFill>
                  <a:srgbClr val="102C57"/>
                </a:solidFill>
                <a:latin typeface="Noto Sans SC" pitchFamily="34" charset="0"/>
                <a:ea typeface="Noto Sans SC" pitchFamily="34" charset="-122"/>
                <a:cs typeface="Noto Sans SC" pitchFamily="34" charset="-120"/>
              </a:rPr>
              <a:t>多数统计规律一致</a:t>
            </a:r>
          </a:p>
        </p:txBody>
      </p:sp>
      <p:sp>
        <p:nvSpPr>
          <p:cNvPr id="7" name="Text 5"/>
          <p:cNvSpPr/>
          <p:nvPr/>
        </p:nvSpPr>
        <p:spPr>
          <a:xfrm>
            <a:off x="7232904" y="2423160"/>
            <a:ext cx="4297680" cy="868680"/>
          </a:xfrm>
          <a:prstGeom prst="rect">
            <a:avLst/>
          </a:prstGeom>
          <a:noFill/>
          <a:ln/>
        </p:spPr>
        <p:txBody>
          <a:bodyPr wrap="square" lIns="91440" tIns="45720" rIns="91440" bIns="45720" rtlCol="0" anchor="t"/>
          <a:lstStyle/>
          <a:p>
            <a:pPr algn="l" indent="0" marL="0">
              <a:lnSpc>
                <a:spcPct val="125000"/>
              </a:lnSpc>
              <a:buNone/>
            </a:pPr>
            <a:r>
              <a:rPr lang="en-US" sz="1400" dirty="0" b="0">
                <a:solidFill>
                  <a:srgbClr val="404040"/>
                </a:solidFill>
                <a:latin typeface="Noto Sans SC" pitchFamily="34" charset="0"/>
                <a:ea typeface="Noto Sans SC" pitchFamily="34" charset="-122"/>
                <a:cs typeface="Noto Sans SC" pitchFamily="34" charset="-120"/>
              </a:rPr>
              <a:t>重尾分布、幂律标度、约 1/t 的注意力衰减，与人类在线社区一致。</a:t>
            </a:r>
          </a:p>
        </p:txBody>
      </p:sp>
      <p:sp>
        <p:nvSpPr>
          <p:cNvPr id="8" name="Shape 6"/>
          <p:cNvSpPr/>
          <p:nvPr/>
        </p:nvSpPr>
        <p:spPr>
          <a:xfrm>
            <a:off x="718718" y="3520440"/>
            <a:ext cx="1920240" cy="2103120"/>
          </a:xfrm>
          <a:prstGeom prst="rect">
            <a:avLst/>
          </a:prstGeom>
          <a:solidFill>
            <a:srgbClr val="F5F5F5"/>
          </a:solidFill>
          <a:ln w="9525">
            <a:solidFill>
              <a:srgbClr val="D9D9D9"/>
            </a:solidFill>
          </a:ln>
        </p:spPr>
      </p:sp>
      <p:sp>
        <p:nvSpPr>
          <p:cNvPr id="9" name="Text 7"/>
          <p:cNvSpPr/>
          <p:nvPr/>
        </p:nvSpPr>
        <p:spPr>
          <a:xfrm>
            <a:off x="841248" y="3657600"/>
            <a:ext cx="1691640" cy="2194560"/>
          </a:xfrm>
          <a:prstGeom prst="rect">
            <a:avLst/>
          </a:prstGeom>
          <a:noFill/>
          <a:ln/>
        </p:spPr>
        <p:txBody>
          <a:bodyPr wrap="square" lIns="91440" tIns="45720" rIns="91440" bIns="45720" rtlCol="0" anchor="t"/>
          <a:lstStyle/>
          <a:p>
            <a:pPr algn="l" indent="0" marL="0">
              <a:lnSpc>
                <a:spcPct val="115000"/>
              </a:lnSpc>
              <a:buNone/>
            </a:pPr>
            <a:r>
              <a:rPr lang="en-US" sz="1400" dirty="0" b="1">
                <a:solidFill>
                  <a:srgbClr val="102C57"/>
                </a:solidFill>
                <a:latin typeface="Noto Sans SC" pitchFamily="34" charset="0"/>
                <a:ea typeface="Noto Sans SC" pitchFamily="34" charset="-122"/>
                <a:cs typeface="Noto Sans SC" pitchFamily="34" charset="-120"/>
              </a:rPr>
              <a:t>局限</a:t>
            </a:r>
          </a:p>
          <a:p>
            <a:pPr algn="l" indent="0" marL="0">
              <a:lnSpc>
                <a:spcPct val="115000"/>
              </a:lnSpc>
              <a:spcBef>
                <a:spcPts val="400"/>
              </a:spcBef>
              <a:buNone/>
            </a:pPr>
            <a:r>
              <a:rPr lang="en-US" sz="1400" dirty="0" b="0">
                <a:solidFill>
                  <a:srgbClr val="404040"/>
                </a:solidFill>
                <a:latin typeface="Noto Sans SC" pitchFamily="34" charset="0"/>
                <a:ea typeface="Noto Sans SC" pitchFamily="34" charset="-122"/>
                <a:cs typeface="Noto Sans SC" pitchFamily="34" charset="-120"/>
              </a:rPr>
              <a:t>无法完全验证自主性；6 月起新帖覆盖率约 85%；刷屏机器人带来噪声</a:t>
            </a:r>
          </a:p>
        </p:txBody>
      </p:sp>
      <p:sp>
        <p:nvSpPr>
          <p:cNvPr id="10" name="Text 8"/>
          <p:cNvSpPr/>
          <p:nvPr/>
        </p:nvSpPr>
        <p:spPr>
          <a:xfrm>
            <a:off x="2880360" y="3657600"/>
            <a:ext cx="4069080" cy="13716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404040"/>
                </a:solidFill>
                <a:latin typeface="Noto Sans SC" pitchFamily="34" charset="0"/>
                <a:ea typeface="Noto Sans SC" pitchFamily="34" charset="-122"/>
                <a:cs typeface="Noto Sans SC" pitchFamily="34" charset="-120"/>
              </a:rPr>
              <a:t>评论/帖重尾（α = 2.22）；直接回复随规模线性（β ≈ 1.03）；深度–宽度反比；评论率 γ(t) ∝ t^−1.23，帖子活跃期幂律尾 −1.35。</a:t>
            </a:r>
          </a:p>
        </p:txBody>
      </p:sp>
      <p:sp>
        <p:nvSpPr>
          <p:cNvPr id="11" name="Shape 9"/>
          <p:cNvSpPr/>
          <p:nvPr/>
        </p:nvSpPr>
        <p:spPr>
          <a:xfrm>
            <a:off x="2990088" y="5074920"/>
            <a:ext cx="3840480" cy="0"/>
          </a:xfrm>
          <a:prstGeom prst="line">
            <a:avLst/>
          </a:prstGeom>
          <a:noFill/>
          <a:ln w="9525">
            <a:solidFill>
              <a:srgbClr val="BFBFBF"/>
            </a:solidFill>
            <a:prstDash val="solid"/>
          </a:ln>
        </p:spPr>
      </p:sp>
      <p:sp>
        <p:nvSpPr>
          <p:cNvPr id="12" name="Text 10"/>
          <p:cNvSpPr/>
          <p:nvPr/>
        </p:nvSpPr>
        <p:spPr>
          <a:xfrm>
            <a:off x="2898648" y="5120640"/>
            <a:ext cx="393192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与人类相似</a:t>
            </a:r>
          </a:p>
        </p:txBody>
      </p:sp>
      <p:sp>
        <p:nvSpPr>
          <p:cNvPr id="13" name="Text 11"/>
          <p:cNvSpPr/>
          <p:nvPr/>
        </p:nvSpPr>
        <p:spPr>
          <a:xfrm>
            <a:off x="7269480" y="3657600"/>
            <a:ext cx="4069080" cy="13716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404040"/>
                </a:solidFill>
                <a:latin typeface="Noto Sans SC" pitchFamily="34" charset="0"/>
                <a:ea typeface="Noto Sans SC" pitchFamily="34" charset="-122"/>
                <a:cs typeface="Noto Sans SC" pitchFamily="34" charset="-120"/>
              </a:rPr>
              <a:t>点赞与参与脱钩（β ≈ 0.79）；讨论变宽不变深，最大深度中位数 3；注册约 150 万，但只有约 18.5 万发过帖或评论。</a:t>
            </a:r>
          </a:p>
        </p:txBody>
      </p:sp>
      <p:sp>
        <p:nvSpPr>
          <p:cNvPr id="14" name="Shape 12"/>
          <p:cNvSpPr/>
          <p:nvPr/>
        </p:nvSpPr>
        <p:spPr>
          <a:xfrm>
            <a:off x="7360920" y="5074920"/>
            <a:ext cx="3840480" cy="0"/>
          </a:xfrm>
          <a:prstGeom prst="line">
            <a:avLst/>
          </a:prstGeom>
          <a:noFill/>
          <a:ln w="9525">
            <a:solidFill>
              <a:srgbClr val="BFBFBF"/>
            </a:solidFill>
            <a:prstDash val="solid"/>
          </a:ln>
        </p:spPr>
      </p:sp>
      <p:sp>
        <p:nvSpPr>
          <p:cNvPr id="15" name="Text 13"/>
          <p:cNvSpPr/>
          <p:nvPr/>
        </p:nvSpPr>
        <p:spPr>
          <a:xfrm>
            <a:off x="7269480" y="5120640"/>
            <a:ext cx="393192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与人类不同 / 值得注意</a:t>
            </a:r>
          </a:p>
        </p:txBody>
      </p:sp>
      <p:sp>
        <p:nvSpPr>
          <p:cNvPr id="16" name="Text 14"/>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7" name="Text 15"/>
          <p:cNvSpPr/>
          <p:nvPr/>
        </p:nvSpPr>
        <p:spPr>
          <a:xfrm>
            <a:off x="753466" y="6187653"/>
            <a:ext cx="1933042" cy="245974"/>
          </a:xfrm>
          <a:prstGeom prst="rect">
            <a:avLst/>
          </a:prstGeom>
          <a:noFill/>
          <a:ln/>
        </p:spPr>
        <p:txBody>
          <a:bodyPr wrap="square" lIns="91440" tIns="45720" rIns="91440" bIns="45720" rtlCol="0" anchor="t"/>
          <a:lstStyle/>
          <a:p>
            <a:pPr indent="0" marL="0">
              <a:buNone/>
            </a:pPr>
            <a:r>
              <a:rPr lang="en-US" sz="1000" b="1" dirty="0">
                <a:solidFill>
                  <a:srgbClr val="404040"/>
                </a:solidFill>
                <a:latin typeface="Noto Sans SC" pitchFamily="34" charset="0"/>
                <a:ea typeface="Noto Sans SC" pitchFamily="34" charset="-122"/>
                <a:cs typeface="Noto Sans SC" pitchFamily="34" charset="-120"/>
              </a:rPr>
              <a:t>论文</a:t>
            </a:r>
            <a:r>
              <a:rPr lang="en-US" sz="1000" dirty="0">
                <a:solidFill>
                  <a:srgbClr val="404040"/>
                </a:solidFill>
                <a:latin typeface="Noto Sans SC" pitchFamily="34" charset="0"/>
                <a:ea typeface="Noto Sans SC" pitchFamily="34" charset="-122"/>
                <a:cs typeface="Noto Sans SC" pitchFamily="34" charset="-120"/>
              </a:rPr>
              <a:t> 研讨</a:t>
            </a:r>
            <a:endParaRPr lang="en-US" sz="1000" dirty="0"/>
          </a:p>
        </p:txBody>
      </p:sp>
      <p:sp>
        <p:nvSpPr>
          <p:cNvPr id="18" name="Shape 16"/>
          <p:cNvSpPr/>
          <p:nvPr/>
        </p:nvSpPr>
        <p:spPr>
          <a:xfrm>
            <a:off x="2034814" y="6320790"/>
            <a:ext cx="445770" cy="0"/>
          </a:xfrm>
          <a:prstGeom prst="line">
            <a:avLst/>
          </a:prstGeom>
          <a:noFill/>
          <a:ln w="12700">
            <a:solidFill>
              <a:srgbClr val="0D0D0D"/>
            </a:solidFill>
            <a:prstDash val="solid"/>
          </a:ln>
        </p:spPr>
      </p:sp>
      <p:sp>
        <p:nvSpPr>
          <p:cNvPr id="19" name="Text 17"/>
          <p:cNvSpPr/>
          <p:nvPr/>
        </p:nvSpPr>
        <p:spPr>
          <a:xfrm>
            <a:off x="2400574"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102C57"/>
                </a:solidFill>
                <a:latin typeface="Noto Sans SC" pitchFamily="34" charset="0"/>
                <a:ea typeface="Noto Sans SC" pitchFamily="34" charset="-122"/>
                <a:cs typeface="Noto Sans SC" pitchFamily="34" charset="-120"/>
              </a:rPr>
              <a:t>共 16 页</a:t>
            </a:r>
          </a:p>
        </p:txBody>
      </p:sp>
      <p:sp>
        <p:nvSpPr>
          <p:cNvPr id="20" name="Text 18"/>
          <p:cNvSpPr/>
          <p:nvPr/>
        </p:nvSpPr>
        <p:spPr>
          <a:xfrm>
            <a:off x="10515600" y="6187653"/>
            <a:ext cx="1008949" cy="245974"/>
          </a:xfrm>
          <a:prstGeom prst="rect">
            <a:avLst/>
          </a:prstGeom>
          <a:noFill/>
          <a:ln/>
        </p:spPr>
        <p:txBody>
          <a:bodyPr wrap="square" lIns="91440" tIns="45720" rIns="91440" bIns="45720" rtlCol="0" anchor="t"/>
          <a:lstStyle/>
          <a:p>
            <a:pPr algn="r" indent="0" marL="0">
              <a:buNone/>
            </a:pPr>
            <a:r>
              <a:rPr lang="en-US" sz="1000" b="1" dirty="0">
                <a:solidFill>
                  <a:srgbClr val="102C57"/>
                </a:solidFill>
                <a:latin typeface="Noto Sans SC" pitchFamily="34" charset="0"/>
                <a:ea typeface="Noto Sans SC" pitchFamily="34" charset="-122"/>
                <a:cs typeface="Noto Sans SC" pitchFamily="34" charset="-120"/>
              </a:rPr>
              <a:t>第</a:t>
            </a:r>
            <a:r>
              <a:rPr lang="en-US" sz="1000" b="1" dirty="0">
                <a:solidFill>
                  <a:srgbClr val="808080"/>
                </a:solidFill>
                <a:latin typeface="Noto Sans SC" pitchFamily="34" charset="0"/>
                <a:ea typeface="Noto Sans SC" pitchFamily="34" charset="-122"/>
                <a:cs typeface="Noto Sans SC" pitchFamily="34" charset="-120"/>
              </a:rPr>
              <a:t> </a:t>
            </a:r>
            <a:r>
              <a:rPr lang="en-US" sz="1000" dirty="0">
                <a:solidFill>
                  <a:srgbClr val="808080"/>
                </a:solidFill>
                <a:latin typeface="Noto Sans SC" pitchFamily="34" charset="0"/>
                <a:ea typeface="Noto Sans SC" pitchFamily="34" charset="-122"/>
                <a:cs typeface="Noto Sans SC" pitchFamily="34" charset="-120"/>
              </a:rPr>
              <a:t>16/16</a:t>
            </a:r>
            <a:endParaRPr lang="en-US" sz="1000" dirty="0"/>
          </a:p>
        </p:txBody>
      </p:sp>
      <p:sp>
        <p:nvSpPr>
          <p:cNvPr id="30" name="Big number"/>
          <p:cNvSpPr/>
          <p:nvPr/>
        </p:nvSpPr>
        <p:spPr>
          <a:xfrm>
            <a:off x="718718" y="914400"/>
            <a:ext cx="5943600" cy="1280160"/>
          </a:xfrm>
          <a:prstGeom prst="rect">
            <a:avLst/>
          </a:prstGeom>
          <a:noFill/>
          <a:ln/>
        </p:spPr>
        <p:txBody>
          <a:bodyPr wrap="square" lIns="91440" tIns="45720" rIns="91440" bIns="45720" rtlCol="0" anchor="t"/>
          <a:lstStyle/>
          <a:p>
            <a:pPr algn="l" indent="0" marL="0">
              <a:lnSpc>
                <a:spcPct val="100000"/>
              </a:lnSpc>
              <a:buNone/>
            </a:pPr>
            <a:r>
              <a:rPr lang="en-US" sz="6600" dirty="0" b="0">
                <a:solidFill>
                  <a:srgbClr val="102C57"/>
                </a:solidFill>
                <a:latin typeface="Noto Sans SC" pitchFamily="34" charset="0"/>
                <a:ea typeface="Noto Sans SC" pitchFamily="34" charset="-122"/>
                <a:cs typeface="Noto Sans SC" pitchFamily="34" charset="-120"/>
              </a:rPr>
              <a:t>β ≈ 0.79</a:t>
            </a:r>
          </a:p>
        </p:txBody>
      </p:sp>
      <p:sp>
        <p:nvSpPr>
          <p:cNvPr id="31" name="Big caption"/>
          <p:cNvSpPr/>
          <p:nvPr/>
        </p:nvSpPr>
        <p:spPr>
          <a:xfrm>
            <a:off x="718718" y="2240280"/>
            <a:ext cx="5760720" cy="914400"/>
          </a:xfrm>
          <a:prstGeom prst="rect">
            <a:avLst/>
          </a:prstGeom>
          <a:noFill/>
          <a:ln/>
        </p:spPr>
        <p:txBody>
          <a:bodyPr wrap="square" lIns="91440" tIns="45720" rIns="91440" bIns="45720" rtlCol="0" anchor="t"/>
          <a:lstStyle/>
          <a:p>
            <a:pPr algn="l" indent="0" marL="0">
              <a:lnSpc>
                <a:spcPct val="125000"/>
              </a:lnSpc>
              <a:buNone/>
            </a:pPr>
            <a:r>
              <a:rPr lang="en-US" sz="1600" dirty="0" b="0">
                <a:solidFill>
                  <a:srgbClr val="404040"/>
                </a:solidFill>
                <a:latin typeface="Noto Sans SC" pitchFamily="34" charset="0"/>
                <a:ea typeface="Noto Sans SC" pitchFamily="34" charset="-122"/>
                <a:cs typeface="Noto Sans SC" pitchFamily="34" charset="-120"/>
              </a:rPr>
              <a:t>点赞随讨论规模亚线性增长（人类 Reddit 约为 1）：附录排除了踩、作者声望、饱和、争议四种解释</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ln/>
        </p:spPr>
      </p:sp>
      <p:sp>
        <p:nvSpPr>
          <p:cNvPr id="3" name="Shape 1"/>
          <p:cNvSpPr/>
          <p:nvPr/>
        </p:nvSpPr>
        <p:spPr>
          <a:xfrm>
            <a:off x="845820" y="1292047"/>
            <a:ext cx="11345875" cy="5566867"/>
          </a:xfrm>
          <a:prstGeom prst="rect">
            <a:avLst/>
          </a:prstGeom>
          <a:solidFill>
            <a:srgbClr val="FFFFFF"/>
          </a:solidFill>
          <a:ln/>
        </p:spPr>
      </p:sp>
      <p:sp>
        <p:nvSpPr>
          <p:cNvPr id="4" name="Text 2"/>
          <p:cNvSpPr/>
          <p:nvPr/>
        </p:nvSpPr>
        <p:spPr>
          <a:xfrm>
            <a:off x="822960" y="1234440"/>
            <a:ext cx="10543032" cy="1737360"/>
          </a:xfrm>
          <a:prstGeom prst="rect">
            <a:avLst/>
          </a:prstGeom>
          <a:noFill/>
          <a:ln/>
        </p:spPr>
        <p:txBody>
          <a:bodyPr wrap="square" lIns="91440" tIns="45720" rIns="91440" bIns="45720" rtlCol="0" anchor="ctr"/>
          <a:lstStyle/>
          <a:p>
            <a:pPr algn="ctr" indent="0" marL="0">
              <a:lnSpc>
                <a:spcPct val="100000"/>
              </a:lnSpc>
              <a:buNone/>
            </a:pPr>
            <a:r>
              <a:rPr lang="en-US" sz="12000" kern="0" dirty="0" b="0">
                <a:solidFill>
                  <a:srgbClr val="102C57"/>
                </a:solidFill>
                <a:latin typeface="Noto Sans SC" pitchFamily="34" charset="0"/>
                <a:ea typeface="Noto Sans SC" pitchFamily="34" charset="-122"/>
                <a:cs typeface="Noto Sans SC" pitchFamily="34" charset="-120"/>
              </a:rPr>
              <a:t>97.9%</a:t>
            </a:r>
          </a:p>
        </p:txBody>
      </p:sp>
      <p:sp>
        <p:nvSpPr>
          <p:cNvPr id="5" name="Text 3"/>
          <p:cNvSpPr/>
          <p:nvPr/>
        </p:nvSpPr>
        <p:spPr>
          <a:xfrm>
            <a:off x="1280160" y="3108960"/>
            <a:ext cx="9628632" cy="548640"/>
          </a:xfrm>
          <a:prstGeom prst="rect">
            <a:avLst/>
          </a:prstGeom>
          <a:noFill/>
          <a:ln/>
        </p:spPr>
        <p:txBody>
          <a:bodyPr wrap="square" lIns="91440" tIns="45720" rIns="91440" bIns="45720" rtlCol="0" anchor="t"/>
          <a:lstStyle/>
          <a:p>
            <a:pPr algn="ctr" indent="0" marL="0">
              <a:lnSpc>
                <a:spcPct val="115000"/>
              </a:lnSpc>
              <a:buNone/>
            </a:pPr>
            <a:r>
              <a:rPr lang="en-US" sz="2200" b="0" kern="0" dirty="0">
                <a:solidFill>
                  <a:srgbClr val="0D0D0D"/>
                </a:solidFill>
                <a:latin typeface="Noto Sans SC" pitchFamily="34" charset="0"/>
                <a:ea typeface="Noto Sans SC" pitchFamily="34" charset="-122"/>
                <a:cs typeface="Noto Sans SC" pitchFamily="34" charset="-120"/>
              </a:rPr>
              <a:t>的 Moltbook 智能体从不在与自己 bio 主题相符的社区发帖</a:t>
            </a:r>
          </a:p>
        </p:txBody>
      </p:sp>
      <p:sp>
        <p:nvSpPr>
          <p:cNvPr id="6" name="Text 4"/>
          <p:cNvSpPr/>
          <p:nvPr/>
        </p:nvSpPr>
        <p:spPr>
          <a:xfrm>
            <a:off x="730606"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262626"/>
                </a:solidFill>
                <a:latin typeface="Noto Sans SC" pitchFamily="34" charset="0"/>
                <a:ea typeface="Noto Sans SC" pitchFamily="34" charset="-122"/>
                <a:cs typeface="Noto Sans SC" pitchFamily="34" charset="-120"/>
              </a:rPr>
              <a:t>智能体社区研究</a:t>
            </a:r>
            <a:endParaRPr lang="en-US" sz="1000" dirty="0"/>
          </a:p>
        </p:txBody>
      </p:sp>
      <p:sp>
        <p:nvSpPr>
          <p:cNvPr id="7" name="Text 5"/>
          <p:cNvSpPr/>
          <p:nvPr/>
        </p:nvSpPr>
        <p:spPr>
          <a:xfrm>
            <a:off x="1119226" y="6187653"/>
            <a:ext cx="1933042" cy="245974"/>
          </a:xfrm>
          <a:prstGeom prst="rect">
            <a:avLst/>
          </a:prstGeom>
          <a:noFill/>
          <a:ln/>
        </p:spPr>
        <p:txBody>
          <a:bodyPr wrap="square" lIns="91440" tIns="45720" rIns="91440" bIns="45720" rtlCol="0" anchor="t"/>
          <a:lstStyle/>
          <a:p>
            <a:pPr indent="0" marL="0">
              <a:buNone/>
            </a:pPr>
            <a:r>
              <a:rPr lang="en-US" sz="1000" b="1" dirty="0">
                <a:solidFill>
                  <a:srgbClr val="404040"/>
                </a:solidFill>
                <a:latin typeface="Noto Sans SC" pitchFamily="34" charset="0"/>
                <a:ea typeface="Noto Sans SC" pitchFamily="34" charset="-122"/>
                <a:cs typeface="Noto Sans SC" pitchFamily="34" charset="-120"/>
              </a:rPr>
              <a:t>论文</a:t>
            </a:r>
            <a:r>
              <a:rPr lang="en-US" sz="1000" dirty="0">
                <a:solidFill>
                  <a:srgbClr val="404040"/>
                </a:solidFill>
                <a:latin typeface="Noto Sans SC" pitchFamily="34" charset="0"/>
                <a:ea typeface="Noto Sans SC" pitchFamily="34" charset="-122"/>
                <a:cs typeface="Noto Sans SC" pitchFamily="34" charset="-120"/>
              </a:rPr>
              <a:t> 研讨</a:t>
            </a:r>
            <a:endParaRPr lang="en-US" sz="1000" dirty="0"/>
          </a:p>
        </p:txBody>
      </p:sp>
      <p:sp>
        <p:nvSpPr>
          <p:cNvPr id="8" name="Shape 6"/>
          <p:cNvSpPr/>
          <p:nvPr/>
        </p:nvSpPr>
        <p:spPr>
          <a:xfrm>
            <a:off x="2400574" y="6320790"/>
            <a:ext cx="445770" cy="0"/>
          </a:xfrm>
          <a:prstGeom prst="line">
            <a:avLst/>
          </a:prstGeom>
          <a:noFill/>
          <a:ln w="12700">
            <a:solidFill>
              <a:srgbClr val="0D0D0D"/>
            </a:solidFill>
            <a:prstDash val="solid"/>
          </a:ln>
        </p:spPr>
      </p:sp>
      <p:sp>
        <p:nvSpPr>
          <p:cNvPr id="9" name="Text 7"/>
          <p:cNvSpPr/>
          <p:nvPr/>
        </p:nvSpPr>
        <p:spPr>
          <a:xfrm>
            <a:off x="2766334"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102C57"/>
                </a:solidFill>
                <a:latin typeface="Noto Sans SC" pitchFamily="34" charset="0"/>
                <a:ea typeface="Noto Sans SC" pitchFamily="34" charset="-122"/>
                <a:cs typeface="Noto Sans SC" pitchFamily="34" charset="-120"/>
              </a:rPr>
              <a:t>共 16 页</a:t>
            </a:r>
          </a:p>
        </p:txBody>
      </p:sp>
      <p:sp>
        <p:nvSpPr>
          <p:cNvPr id="10" name="Text 8"/>
          <p:cNvSpPr/>
          <p:nvPr/>
        </p:nvSpPr>
        <p:spPr>
          <a:xfrm>
            <a:off x="10515600" y="6187653"/>
            <a:ext cx="1008949" cy="245974"/>
          </a:xfrm>
          <a:prstGeom prst="rect">
            <a:avLst/>
          </a:prstGeom>
          <a:noFill/>
          <a:ln/>
        </p:spPr>
        <p:txBody>
          <a:bodyPr wrap="square" lIns="91440" tIns="45720" rIns="91440" bIns="45720" rtlCol="0" anchor="t"/>
          <a:lstStyle/>
          <a:p>
            <a:pPr algn="r" indent="0" marL="0">
              <a:buNone/>
            </a:pPr>
            <a:r>
              <a:rPr lang="en-US" sz="1000" b="1" dirty="0">
                <a:solidFill>
                  <a:srgbClr val="102C57"/>
                </a:solidFill>
                <a:latin typeface="Noto Sans SC" pitchFamily="34" charset="0"/>
                <a:ea typeface="Noto Sans SC" pitchFamily="34" charset="-122"/>
                <a:cs typeface="Noto Sans SC" pitchFamily="34" charset="-120"/>
              </a:rPr>
              <a:t>第</a:t>
            </a:r>
            <a:r>
              <a:rPr lang="en-US" sz="1000" b="1" dirty="0">
                <a:solidFill>
                  <a:srgbClr val="808080"/>
                </a:solidFill>
                <a:latin typeface="Noto Sans SC" pitchFamily="34" charset="0"/>
                <a:ea typeface="Noto Sans SC" pitchFamily="34" charset="-122"/>
                <a:cs typeface="Noto Sans SC" pitchFamily="34" charset="-120"/>
              </a:rPr>
              <a:t> </a:t>
            </a:r>
            <a:r>
              <a:rPr lang="en-US" sz="1000" dirty="0">
                <a:solidFill>
                  <a:srgbClr val="808080"/>
                </a:solidFill>
                <a:latin typeface="Noto Sans SC" pitchFamily="34" charset="0"/>
                <a:ea typeface="Noto Sans SC" pitchFamily="34" charset="-122"/>
                <a:cs typeface="Noto Sans SC" pitchFamily="34" charset="-120"/>
              </a:rPr>
              <a:t>12/16</a:t>
            </a:r>
            <a:endParaRPr lang="en-US" sz="1000" dirty="0"/>
          </a:p>
        </p:txBody>
      </p:sp>
      <p:sp>
        <p:nvSpPr>
          <p:cNvPr id="30" name="Contrast"/>
          <p:cNvSpPr/>
          <p:nvPr/>
        </p:nvSpPr>
        <p:spPr>
          <a:xfrm>
            <a:off x="1280160" y="4114800"/>
            <a:ext cx="9628632" cy="1188720"/>
          </a:xfrm>
          <a:prstGeom prst="rect">
            <a:avLst/>
          </a:prstGeom>
          <a:noFill/>
          <a:ln/>
        </p:spPr>
        <p:txBody>
          <a:bodyPr wrap="square" lIns="91440" tIns="45720" rIns="91440" bIns="45720" rtlCol="0" anchor="t"/>
          <a:lstStyle/>
          <a:p>
            <a:pPr algn="ctr" indent="0" marL="0">
              <a:lnSpc>
                <a:spcPct val="125000"/>
              </a:lnSpc>
              <a:buNone/>
            </a:pPr>
            <a:r>
              <a:rPr lang="en-US" sz="1600" b="0" kern="0" dirty="0">
                <a:solidFill>
                  <a:srgbClr val="404040"/>
                </a:solidFill>
                <a:latin typeface="Noto Sans SC" pitchFamily="34" charset="0"/>
                <a:ea typeface="Noto Sans SC" pitchFamily="34" charset="-122"/>
                <a:cs typeface="Noto Sans SC" pitchFamily="34" charset="-120"/>
              </a:rPr>
              <a:t>对照 P1（Chirper 英文子频道）：bio 越相似越容易互相点赞（0.2371 vs 0.2122）</a:t>
            </a:r>
          </a:p>
          <a:p>
            <a:pPr algn="ctr" indent="0" marL="0">
              <a:lnSpc>
                <a:spcPct val="125000"/>
              </a:lnSpc>
              <a:spcBef>
                <a:spcPts val="600"/>
              </a:spcBef>
              <a:buNone/>
            </a:pPr>
            <a:r>
              <a:rPr lang="en-US" sz="1600" b="0" kern="0" dirty="0">
                <a:solidFill>
                  <a:srgbClr val="595959"/>
                </a:solidFill>
                <a:latin typeface="Noto Sans SC" pitchFamily="34" charset="0"/>
                <a:ea typeface="Noto Sans SC" pitchFamily="34" charset="-122"/>
                <a:cs typeface="Noto Sans SC" pitchFamily="34" charset="-120"/>
              </a:rPr>
              <a:t>两者测的不是同一件事：P1 看 bio 是否影响“和谁互动”，P3 看是否影响“在哪发帖”</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1"/>
          <p:cNvSpPr/>
          <p:nvPr/>
        </p:nvSpPr>
        <p:spPr>
          <a:xfrm>
            <a:off x="718718" y="2057400"/>
            <a:ext cx="3178454" cy="3291840"/>
          </a:xfrm>
          <a:prstGeom prst="rect">
            <a:avLst/>
          </a:prstGeom>
          <a:solidFill>
            <a:srgbClr val="F5F5F5"/>
          </a:solidFill>
          <a:ln w="9525">
            <a:solidFill>
              <a:srgbClr val="D9D9D9"/>
            </a:solidFill>
          </a:ln>
        </p:spPr>
      </p:sp>
      <p:sp>
        <p:nvSpPr>
          <p:cNvPr id="4" name="Shape 2"/>
          <p:cNvSpPr/>
          <p:nvPr/>
        </p:nvSpPr>
        <p:spPr>
          <a:xfrm>
            <a:off x="4161434" y="2057400"/>
            <a:ext cx="3178454" cy="3291840"/>
          </a:xfrm>
          <a:prstGeom prst="rect">
            <a:avLst/>
          </a:prstGeom>
          <a:solidFill>
            <a:srgbClr val="F5F5F5"/>
          </a:solidFill>
          <a:ln w="9525">
            <a:solidFill>
              <a:srgbClr val="D9D9D9"/>
            </a:solidFill>
          </a:ln>
        </p:spPr>
      </p:sp>
      <p:sp>
        <p:nvSpPr>
          <p:cNvPr id="5" name="Shape 3"/>
          <p:cNvSpPr/>
          <p:nvPr/>
        </p:nvSpPr>
        <p:spPr>
          <a:xfrm>
            <a:off x="7605065" y="2057400"/>
            <a:ext cx="3178454" cy="3291840"/>
          </a:xfrm>
          <a:prstGeom prst="rect">
            <a:avLst/>
          </a:prstGeom>
          <a:solidFill>
            <a:srgbClr val="F5F5F5"/>
          </a:solidFill>
          <a:ln w="9525">
            <a:solidFill>
              <a:srgbClr val="D9D9D9"/>
            </a:solidFill>
          </a:ln>
        </p:spPr>
      </p:sp>
      <p:sp>
        <p:nvSpPr>
          <p:cNvPr id="6" name="Text 4"/>
          <p:cNvSpPr/>
          <p:nvPr/>
        </p:nvSpPr>
        <p:spPr>
          <a:xfrm>
            <a:off x="718718" y="868680"/>
            <a:ext cx="10753344" cy="731520"/>
          </a:xfrm>
          <a:prstGeom prst="rect">
            <a:avLst/>
          </a:prstGeom>
          <a:noFill/>
          <a:ln/>
        </p:spPr>
        <p:txBody>
          <a:bodyPr wrap="square" lIns="91440" tIns="45720" rIns="91440" bIns="45720" rtlCol="0" anchor="t"/>
          <a:lstStyle/>
          <a:p>
            <a:pPr algn="ctr" indent="0" marL="0">
              <a:lnSpc>
                <a:spcPct val="100000"/>
              </a:lnSpc>
              <a:buNone/>
            </a:pPr>
            <a:r>
              <a:rPr lang="en-US" sz="3600" dirty="0" b="0">
                <a:solidFill>
                  <a:srgbClr val="0D0D0D"/>
                </a:solidFill>
                <a:latin typeface="Noto Sans SC" pitchFamily="34" charset="0"/>
                <a:ea typeface="Noto Sans SC" pitchFamily="34" charset="-122"/>
                <a:cs typeface="Noto Sans SC" pitchFamily="34" charset="-120"/>
              </a:rPr>
              <a:t>P1 方法：社会网络分析（SNA）</a:t>
            </a:r>
          </a:p>
        </p:txBody>
      </p:sp>
      <p:sp>
        <p:nvSpPr>
          <p:cNvPr id="7" name="Text 5"/>
          <p:cNvSpPr/>
          <p:nvPr/>
        </p:nvSpPr>
        <p:spPr>
          <a:xfrm>
            <a:off x="919886" y="2194560"/>
            <a:ext cx="2788920" cy="2514600"/>
          </a:xfrm>
          <a:prstGeom prst="rect">
            <a:avLst/>
          </a:prstGeom>
          <a:noFill/>
          <a:ln/>
        </p:spPr>
        <p:txBody>
          <a:bodyPr wrap="square" lIns="91440" tIns="45720" rIns="91440" bIns="45720" rtlCol="0" anchor="t"/>
          <a:lstStyle/>
          <a:p>
            <a:pPr algn="l" indent="0" marL="0">
              <a:lnSpc>
                <a:spcPct val="125000"/>
              </a:lnSpc>
              <a:buNone/>
            </a:pPr>
            <a:r>
              <a:rPr lang="en-US" sz="1600" dirty="0" b="1">
                <a:solidFill>
                  <a:srgbClr val="0D0D0D"/>
                </a:solidFill>
                <a:latin typeface="Noto Sans SC" pitchFamily="34" charset="0"/>
                <a:ea typeface="Noto Sans SC" pitchFamily="34" charset="-122"/>
                <a:cs typeface="Noto Sans SC" pitchFamily="34" charset="-120"/>
              </a:rPr>
              <a:t>① 小世界结构</a:t>
            </a:r>
          </a:p>
          <a:p>
            <a:pPr algn="l" indent="0" marL="0">
              <a:lnSpc>
                <a:spcPct val="125000"/>
              </a:lnSpc>
              <a:spcBef>
                <a:spcPts val="600"/>
              </a:spcBef>
              <a:buNone/>
            </a:pPr>
            <a:r>
              <a:rPr lang="en-US" sz="1400" dirty="0" b="0">
                <a:solidFill>
                  <a:srgbClr val="404040"/>
                </a:solidFill>
                <a:latin typeface="Noto Sans SC" pitchFamily="34" charset="0"/>
                <a:ea typeface="Noto Sans SC" pitchFamily="34" charset="-122"/>
                <a:cs typeface="Noto Sans SC" pitchFamily="34" charset="-120"/>
              </a:rPr>
              <a:t>去除自环后，在最大强连通分量（LSCC）上计算平均最短路径长度和平均聚类系数；在全网计算有向全局效率和有向聚类系数（Fagiolo, 2007）。都与同规模随机网络对比，覆盖 6 个时期 + 总体共 7 个网络。</a:t>
            </a:r>
          </a:p>
        </p:txBody>
      </p:sp>
      <p:sp>
        <p:nvSpPr>
          <p:cNvPr id="8" name="Shape 6"/>
          <p:cNvSpPr/>
          <p:nvPr/>
        </p:nvSpPr>
        <p:spPr>
          <a:xfrm>
            <a:off x="993037" y="4800600"/>
            <a:ext cx="2651760" cy="0"/>
          </a:xfrm>
          <a:prstGeom prst="line">
            <a:avLst/>
          </a:prstGeom>
          <a:noFill/>
          <a:ln w="9525">
            <a:solidFill>
              <a:srgbClr val="BFBFBF"/>
            </a:solidFill>
            <a:prstDash val="solid"/>
          </a:ln>
        </p:spPr>
      </p:sp>
      <p:sp>
        <p:nvSpPr>
          <p:cNvPr id="9" name="Text 7"/>
          <p:cNvSpPr/>
          <p:nvPr/>
        </p:nvSpPr>
        <p:spPr>
          <a:xfrm>
            <a:off x="919886" y="4864608"/>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检验 H1</a:t>
            </a:r>
          </a:p>
        </p:txBody>
      </p:sp>
      <p:sp>
        <p:nvSpPr>
          <p:cNvPr id="10" name="Text 8"/>
          <p:cNvSpPr/>
          <p:nvPr/>
        </p:nvSpPr>
        <p:spPr>
          <a:xfrm>
            <a:off x="4362602" y="2194560"/>
            <a:ext cx="2788920" cy="2514600"/>
          </a:xfrm>
          <a:prstGeom prst="rect">
            <a:avLst/>
          </a:prstGeom>
          <a:noFill/>
          <a:ln/>
        </p:spPr>
        <p:txBody>
          <a:bodyPr wrap="square" lIns="91440" tIns="45720" rIns="91440" bIns="45720" rtlCol="0" anchor="t"/>
          <a:lstStyle/>
          <a:p>
            <a:pPr algn="l" indent="0" marL="0">
              <a:lnSpc>
                <a:spcPct val="125000"/>
              </a:lnSpc>
              <a:buNone/>
            </a:pPr>
            <a:r>
              <a:rPr lang="en-US" sz="1600" dirty="0" b="1">
                <a:solidFill>
                  <a:srgbClr val="0D0D0D"/>
                </a:solidFill>
                <a:latin typeface="Noto Sans SC" pitchFamily="34" charset="0"/>
                <a:ea typeface="Noto Sans SC" pitchFamily="34" charset="-122"/>
                <a:cs typeface="Noto Sans SC" pitchFamily="34" charset="-120"/>
              </a:rPr>
              <a:t>② 度分布与成因</a:t>
            </a:r>
          </a:p>
          <a:p>
            <a:pPr algn="l" indent="0" marL="0">
              <a:lnSpc>
                <a:spcPct val="125000"/>
              </a:lnSpc>
              <a:spcBef>
                <a:spcPts val="600"/>
              </a:spcBef>
              <a:buNone/>
            </a:pPr>
            <a:r>
              <a:rPr lang="en-US" sz="1400" dirty="0" b="0">
                <a:solidFill>
                  <a:srgbClr val="404040"/>
                </a:solidFill>
                <a:latin typeface="Noto Sans SC" pitchFamily="34" charset="0"/>
                <a:ea typeface="Noto Sans SC" pitchFamily="34" charset="-122"/>
                <a:cs typeface="Noto Sans SC" pitchFamily="34" charset="-120"/>
              </a:rPr>
              <a:t>入度、出度分别拟合幂律（Clauset et al., 2009；R 包 poweRlaw）：估计 α 与 x_min，以 K-S 统计量 D 选参，5000 次 bootstrap 求 p 值，并与指数、对数正态分布比较；再用 bi-epochal 方法估计优先连接率 A(k)。</a:t>
            </a:r>
          </a:p>
        </p:txBody>
      </p:sp>
      <p:sp>
        <p:nvSpPr>
          <p:cNvPr id="11" name="Shape 9"/>
          <p:cNvSpPr/>
          <p:nvPr/>
        </p:nvSpPr>
        <p:spPr>
          <a:xfrm>
            <a:off x="4435754" y="4800600"/>
            <a:ext cx="2651760" cy="0"/>
          </a:xfrm>
          <a:prstGeom prst="line">
            <a:avLst/>
          </a:prstGeom>
          <a:noFill/>
          <a:ln w="9525">
            <a:solidFill>
              <a:srgbClr val="BFBFBF"/>
            </a:solidFill>
            <a:prstDash val="solid"/>
          </a:ln>
        </p:spPr>
      </p:sp>
      <p:sp>
        <p:nvSpPr>
          <p:cNvPr id="12" name="Text 10"/>
          <p:cNvSpPr/>
          <p:nvPr/>
        </p:nvSpPr>
        <p:spPr>
          <a:xfrm>
            <a:off x="4362602" y="4864608"/>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检验 H2</a:t>
            </a:r>
          </a:p>
        </p:txBody>
      </p:sp>
      <p:sp>
        <p:nvSpPr>
          <p:cNvPr id="13" name="Text 11"/>
          <p:cNvSpPr/>
          <p:nvPr/>
        </p:nvSpPr>
        <p:spPr>
          <a:xfrm>
            <a:off x="7806233" y="2194560"/>
            <a:ext cx="2788920" cy="2514600"/>
          </a:xfrm>
          <a:prstGeom prst="rect">
            <a:avLst/>
          </a:prstGeom>
          <a:noFill/>
          <a:ln/>
        </p:spPr>
        <p:txBody>
          <a:bodyPr wrap="square" lIns="91440" tIns="45720" rIns="91440" bIns="45720" rtlCol="0" anchor="t"/>
          <a:lstStyle/>
          <a:p>
            <a:pPr algn="l" indent="0" marL="0">
              <a:lnSpc>
                <a:spcPct val="125000"/>
              </a:lnSpc>
              <a:buNone/>
            </a:pPr>
            <a:r>
              <a:rPr lang="en-US" sz="1600" dirty="0" b="1">
                <a:solidFill>
                  <a:srgbClr val="0D0D0D"/>
                </a:solidFill>
                <a:latin typeface="Noto Sans SC" pitchFamily="34" charset="0"/>
                <a:ea typeface="Noto Sans SC" pitchFamily="34" charset="-122"/>
                <a:cs typeface="Noto Sans SC" pitchFamily="34" charset="-120"/>
              </a:rPr>
              <a:t>③ 同质性</a:t>
            </a:r>
          </a:p>
          <a:p>
            <a:pPr algn="l" indent="0" marL="0">
              <a:lnSpc>
                <a:spcPct val="125000"/>
              </a:lnSpc>
              <a:spcBef>
                <a:spcPts val="600"/>
              </a:spcBef>
              <a:buNone/>
            </a:pPr>
            <a:r>
              <a:rPr lang="en-US" sz="1400" dirty="0" b="0">
                <a:solidFill>
                  <a:srgbClr val="404040"/>
                </a:solidFill>
                <a:latin typeface="Noto Sans SC" pitchFamily="34" charset="0"/>
                <a:ea typeface="Noto Sans SC" pitchFamily="34" charset="-122"/>
                <a:cs typeface="Noto Sans SC" pitchFamily="34" charset="-120"/>
              </a:rPr>
              <a:t>零模型：保留节点和度分布，随机重连边。比较原网络与重连网络中相连节点对的相似度（Wilcoxon 秩和检验）。资料：Doc2Vec（50 维）；内容：BERTopic 主题分布；均用余弦相似度，中英文子频道分开分析。</a:t>
            </a:r>
          </a:p>
        </p:txBody>
      </p:sp>
      <p:sp>
        <p:nvSpPr>
          <p:cNvPr id="14" name="Shape 12"/>
          <p:cNvSpPr/>
          <p:nvPr/>
        </p:nvSpPr>
        <p:spPr>
          <a:xfrm>
            <a:off x="7879385" y="4800600"/>
            <a:ext cx="2651760" cy="0"/>
          </a:xfrm>
          <a:prstGeom prst="line">
            <a:avLst/>
          </a:prstGeom>
          <a:noFill/>
          <a:ln w="9525">
            <a:solidFill>
              <a:srgbClr val="BFBFBF"/>
            </a:solidFill>
            <a:prstDash val="solid"/>
          </a:ln>
        </p:spPr>
      </p:sp>
      <p:sp>
        <p:nvSpPr>
          <p:cNvPr id="15" name="Text 13"/>
          <p:cNvSpPr/>
          <p:nvPr/>
        </p:nvSpPr>
        <p:spPr>
          <a:xfrm>
            <a:off x="7806233" y="4864608"/>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检验 H3a / H3b</a:t>
            </a:r>
          </a:p>
        </p:txBody>
      </p:sp>
      <p:sp>
        <p:nvSpPr>
          <p:cNvPr id="16" name="Text 14"/>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227625" cy="6858000"/>
          </a:xfrm>
          <a:prstGeom prst="rect">
            <a:avLst/>
          </a:prstGeom>
          <a:ln/>
        </p:spPr>
      </p:sp>
      <p:sp>
        <p:nvSpPr>
          <p:cNvPr id="3" name="Text 1"/>
          <p:cNvSpPr/>
          <p:nvPr/>
        </p:nvSpPr>
        <p:spPr>
          <a:xfrm>
            <a:off x="6437376" y="914400"/>
            <a:ext cx="5120640" cy="777240"/>
          </a:xfrm>
          <a:prstGeom prst="rect">
            <a:avLst/>
          </a:prstGeom>
          <a:noFill/>
          <a:ln/>
        </p:spPr>
        <p:txBody>
          <a:bodyPr wrap="square" lIns="91440" tIns="45720" rIns="91440" bIns="45720" rtlCol="0" anchor="t"/>
          <a:lstStyle/>
          <a:p>
            <a:pPr algn="l" indent="0" marL="0">
              <a:lnSpc>
                <a:spcPct val="100000"/>
              </a:lnSpc>
              <a:buNone/>
            </a:pPr>
            <a:r>
              <a:rPr lang="en-US" sz="4000" dirty="0" b="0">
                <a:solidFill>
                  <a:srgbClr val="0D0D0D"/>
                </a:solidFill>
                <a:latin typeface="Noto Sans SC" pitchFamily="34" charset="0"/>
                <a:ea typeface="Noto Sans SC" pitchFamily="34" charset="-122"/>
                <a:cs typeface="Noto Sans SC" pitchFamily="34" charset="-120"/>
              </a:rPr>
              <a:t>P1 主要发现</a:t>
            </a:r>
          </a:p>
        </p:txBody>
      </p:sp>
      <p:sp>
        <p:nvSpPr>
          <p:cNvPr id="4" name="Text 2"/>
          <p:cNvSpPr/>
          <p:nvPr/>
        </p:nvSpPr>
        <p:spPr>
          <a:xfrm>
            <a:off x="6473952" y="2221991"/>
            <a:ext cx="5029200" cy="96012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404040"/>
                </a:solidFill>
                <a:latin typeface="Noto Sans SC" pitchFamily="34" charset="0"/>
                <a:ea typeface="Noto Sans SC" pitchFamily="34" charset="-122"/>
                <a:cs typeface="Noto Sans SC" pitchFamily="34" charset="-120"/>
              </a:rPr>
              <a:t>LSCC 占全部节点的 39.12%；聚类远高于随机网络，但路径更长，不满足“短路径”。全网有向全局效率 0.1844 高于随机网络 0.1543。</a:t>
            </a:r>
          </a:p>
        </p:txBody>
      </p:sp>
      <p:sp>
        <p:nvSpPr>
          <p:cNvPr id="5" name="Shape 3"/>
          <p:cNvSpPr/>
          <p:nvPr/>
        </p:nvSpPr>
        <p:spPr>
          <a:xfrm>
            <a:off x="6510528" y="1874519"/>
            <a:ext cx="4983480" cy="0"/>
          </a:xfrm>
          <a:prstGeom prst="line">
            <a:avLst/>
          </a:prstGeom>
          <a:noFill/>
          <a:ln w="9525">
            <a:solidFill>
              <a:srgbClr val="808080"/>
            </a:solidFill>
            <a:prstDash val="solid"/>
          </a:ln>
        </p:spPr>
      </p:sp>
      <p:sp>
        <p:nvSpPr>
          <p:cNvPr id="6" name="Text 4"/>
          <p:cNvSpPr/>
          <p:nvPr/>
        </p:nvSpPr>
        <p:spPr>
          <a:xfrm>
            <a:off x="6473952" y="1929384"/>
            <a:ext cx="4937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H1 小世界 · 不完全支持</a:t>
            </a:r>
          </a:p>
        </p:txBody>
      </p:sp>
      <p:sp>
        <p:nvSpPr>
          <p:cNvPr id="7" name="Shape 5"/>
          <p:cNvSpPr/>
          <p:nvPr/>
        </p:nvSpPr>
        <p:spPr>
          <a:xfrm>
            <a:off x="718718" y="1188720"/>
            <a:ext cx="4846320" cy="4663440"/>
          </a:xfrm>
          <a:prstGeom prst="rect">
            <a:avLst/>
          </a:prstGeom>
          <a:solidFill>
            <a:srgbClr val="F5F5F5"/>
          </a:solidFill>
          <a:ln w="9525">
            <a:solidFill>
              <a:srgbClr val="D9D9D9"/>
            </a:solidFill>
          </a:ln>
        </p:spPr>
      </p:sp>
      <p:sp>
        <p:nvSpPr>
          <p:cNvPr id="8" name="Text 6"/>
          <p:cNvSpPr/>
          <p:nvPr/>
        </p:nvSpPr>
        <p:spPr>
          <a:xfrm>
            <a:off x="960120" y="1371600"/>
            <a:ext cx="4434840" cy="4343400"/>
          </a:xfrm>
          <a:prstGeom prst="rect">
            <a:avLst/>
          </a:prstGeom>
          <a:noFill/>
          <a:ln/>
        </p:spPr>
        <p:txBody>
          <a:bodyPr wrap="square" lIns="91440" tIns="45720" rIns="91440" bIns="45720" rtlCol="0" anchor="t"/>
          <a:lstStyle/>
          <a:p>
            <a:pPr algn="l" indent="0" marL="0">
              <a:lnSpc>
                <a:spcPct val="115000"/>
              </a:lnSpc>
              <a:buNone/>
            </a:pPr>
            <a:r>
              <a:rPr lang="en-US" sz="1200" dirty="0" b="1">
                <a:solidFill>
                  <a:srgbClr val="102C57"/>
                </a:solidFill>
                <a:latin typeface="Noto Sans SC" pitchFamily="34" charset="0"/>
                <a:ea typeface="Noto Sans SC" pitchFamily="34" charset="-122"/>
                <a:cs typeface="Noto Sans SC" pitchFamily="34" charset="-120"/>
              </a:rPr>
              <a:t>PAPER 1 · 结论</a:t>
            </a:r>
          </a:p>
          <a:p>
            <a:pPr algn="l" indent="0" marL="0">
              <a:lnSpc>
                <a:spcPct val="115000"/>
              </a:lnSpc>
              <a:spcBef>
                <a:spcPts val="600"/>
              </a:spcBef>
              <a:buNone/>
            </a:pPr>
            <a:r>
              <a:rPr lang="en-US" sz="2400" dirty="0" b="0">
                <a:solidFill>
                  <a:srgbClr val="0D0D0D"/>
                </a:solidFill>
                <a:latin typeface="Noto Sans SC" pitchFamily="34" charset="0"/>
                <a:ea typeface="Noto Sans SC" pitchFamily="34" charset="-122"/>
                <a:cs typeface="Noto Sans SC" pitchFamily="34" charset="-120"/>
              </a:rPr>
              <a:t>入度呈幂律、存在同质性，但不是经典小世界</a:t>
            </a:r>
          </a:p>
          <a:p>
            <a:pPr algn="l" indent="0" marL="0">
              <a:lnSpc>
                <a:spcPct val="115000"/>
              </a:lnSpc>
              <a:spcBef>
                <a:spcPts val="2000"/>
              </a:spcBef>
              <a:buNone/>
            </a:pPr>
            <a:r>
              <a:rPr lang="en-US" sz="3000" dirty="0" b="0">
                <a:solidFill>
                  <a:srgbClr val="102C57"/>
                </a:solidFill>
                <a:latin typeface="Noto Sans SC" pitchFamily="34" charset="0"/>
                <a:ea typeface="Noto Sans SC" pitchFamily="34" charset="-122"/>
                <a:cs typeface="Noto Sans SC" pitchFamily="34" charset="-120"/>
              </a:rPr>
              <a:t>0.0426  vs  0.0007</a:t>
            </a:r>
          </a:p>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平均聚类系数：LSCC vs 同规模随机网络</a:t>
            </a:r>
          </a:p>
          <a:p>
            <a:pPr algn="l" indent="0" marL="0">
              <a:lnSpc>
                <a:spcPct val="115000"/>
              </a:lnSpc>
              <a:spcBef>
                <a:spcPts val="1400"/>
              </a:spcBef>
              <a:buNone/>
            </a:pPr>
            <a:r>
              <a:rPr lang="en-US" sz="3000" dirty="0" b="0">
                <a:solidFill>
                  <a:srgbClr val="102C57"/>
                </a:solidFill>
                <a:latin typeface="Noto Sans SC" pitchFamily="34" charset="0"/>
                <a:ea typeface="Noto Sans SC" pitchFamily="34" charset="-122"/>
                <a:cs typeface="Noto Sans SC" pitchFamily="34" charset="-120"/>
              </a:rPr>
              <a:t>5.67  vs  4.87</a:t>
            </a:r>
          </a:p>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平均最短路径：LSCC 反而更长</a:t>
            </a:r>
          </a:p>
        </p:txBody>
      </p:sp>
      <p:sp>
        <p:nvSpPr>
          <p:cNvPr id="9" name="Shape 7"/>
          <p:cNvSpPr/>
          <p:nvPr/>
        </p:nvSpPr>
        <p:spPr>
          <a:xfrm>
            <a:off x="6510528" y="3246120"/>
            <a:ext cx="4983480" cy="0"/>
          </a:xfrm>
          <a:prstGeom prst="line">
            <a:avLst/>
          </a:prstGeom>
          <a:noFill/>
          <a:ln w="9525">
            <a:solidFill>
              <a:srgbClr val="808080"/>
            </a:solidFill>
            <a:prstDash val="solid"/>
          </a:ln>
        </p:spPr>
      </p:sp>
      <p:sp>
        <p:nvSpPr>
          <p:cNvPr id="10" name="Text 8"/>
          <p:cNvSpPr/>
          <p:nvPr/>
        </p:nvSpPr>
        <p:spPr>
          <a:xfrm>
            <a:off x="6473952" y="3300984"/>
            <a:ext cx="4937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H2 幂律 · 部分支持</a:t>
            </a:r>
          </a:p>
        </p:txBody>
      </p:sp>
      <p:sp>
        <p:nvSpPr>
          <p:cNvPr id="12" name="Text 10"/>
          <p:cNvSpPr/>
          <p:nvPr/>
        </p:nvSpPr>
        <p:spPr>
          <a:xfrm>
            <a:off x="6473952" y="3593591"/>
            <a:ext cx="5029200" cy="96012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404040"/>
                </a:solidFill>
                <a:latin typeface="Noto Sans SC" pitchFamily="34" charset="0"/>
                <a:ea typeface="Noto Sans SC" pitchFamily="34" charset="-122"/>
                <a:cs typeface="Noto Sans SC" pitchFamily="34" charset="-120"/>
              </a:rPr>
              <a:t>入度服从幂律：α̂ = 2.297（x_min = 7，p = 0.42）；出度只在 x ≥ 70 的少数节点上服从幂律（α̂ = 6.367）。六个时期的优先连接率斜率均显著为正。</a:t>
            </a:r>
          </a:p>
        </p:txBody>
      </p:sp>
      <p:sp>
        <p:nvSpPr>
          <p:cNvPr id="13" name="Text 11"/>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4" name="Text 12"/>
          <p:cNvSpPr/>
          <p:nvPr/>
        </p:nvSpPr>
        <p:spPr>
          <a:xfrm>
            <a:off x="753466" y="6187653"/>
            <a:ext cx="1933042" cy="245974"/>
          </a:xfrm>
          <a:prstGeom prst="rect">
            <a:avLst/>
          </a:prstGeom>
          <a:noFill/>
          <a:ln/>
        </p:spPr>
        <p:txBody>
          <a:bodyPr wrap="square" lIns="91440" tIns="45720" rIns="91440" bIns="45720" rtlCol="0" anchor="t"/>
          <a:lstStyle/>
          <a:p>
            <a:pPr indent="0" marL="0">
              <a:buNone/>
            </a:pPr>
            <a:r>
              <a:rPr lang="en-US" sz="1000" b="1" dirty="0">
                <a:solidFill>
                  <a:srgbClr val="262626"/>
                </a:solidFill>
                <a:latin typeface="Noto Sans SC" pitchFamily="34" charset="0"/>
                <a:ea typeface="Noto Sans SC" pitchFamily="34" charset="-122"/>
                <a:cs typeface="Noto Sans SC" pitchFamily="34" charset="-120"/>
              </a:rPr>
              <a:t>论文</a:t>
            </a:r>
            <a:r>
              <a:rPr lang="en-US" sz="1000" dirty="0">
                <a:solidFill>
                  <a:srgbClr val="262626"/>
                </a:solidFill>
                <a:latin typeface="Noto Sans SC" pitchFamily="34" charset="0"/>
                <a:ea typeface="Noto Sans SC" pitchFamily="34" charset="-122"/>
                <a:cs typeface="Noto Sans SC" pitchFamily="34" charset="-120"/>
              </a:rPr>
              <a:t> 研讨</a:t>
            </a:r>
            <a:endParaRPr lang="en-US" sz="1000" dirty="0"/>
          </a:p>
        </p:txBody>
      </p:sp>
      <p:sp>
        <p:nvSpPr>
          <p:cNvPr id="15" name="Shape 13"/>
          <p:cNvSpPr/>
          <p:nvPr/>
        </p:nvSpPr>
        <p:spPr>
          <a:xfrm>
            <a:off x="2034814" y="6320790"/>
            <a:ext cx="445770" cy="0"/>
          </a:xfrm>
          <a:prstGeom prst="line">
            <a:avLst/>
          </a:prstGeom>
          <a:noFill/>
          <a:ln w="12700">
            <a:solidFill>
              <a:srgbClr val="BFBFBF"/>
            </a:solidFill>
            <a:prstDash val="solid"/>
          </a:ln>
        </p:spPr>
      </p:sp>
      <p:sp>
        <p:nvSpPr>
          <p:cNvPr id="16" name="Text 14"/>
          <p:cNvSpPr/>
          <p:nvPr/>
        </p:nvSpPr>
        <p:spPr>
          <a:xfrm>
            <a:off x="2400574"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262626"/>
                </a:solidFill>
                <a:latin typeface="Noto Sans SC" pitchFamily="34" charset="0"/>
                <a:ea typeface="Noto Sans SC" pitchFamily="34" charset="-122"/>
                <a:cs typeface="Noto Sans SC" pitchFamily="34" charset="-120"/>
              </a:rPr>
              <a:t>共 16 页</a:t>
            </a:r>
          </a:p>
        </p:txBody>
      </p:sp>
      <p:sp>
        <p:nvSpPr>
          <p:cNvPr id="17" name="Text 15"/>
          <p:cNvSpPr/>
          <p:nvPr/>
        </p:nvSpPr>
        <p:spPr>
          <a:xfrm>
            <a:off x="10515600" y="6187653"/>
            <a:ext cx="1008949" cy="245974"/>
          </a:xfrm>
          <a:prstGeom prst="rect">
            <a:avLst/>
          </a:prstGeom>
          <a:noFill/>
          <a:ln/>
        </p:spPr>
        <p:txBody>
          <a:bodyPr wrap="square" lIns="91440" tIns="45720" rIns="91440" bIns="45720" rtlCol="0" anchor="t"/>
          <a:lstStyle/>
          <a:p>
            <a:pPr algn="r" indent="0" marL="0">
              <a:buNone/>
            </a:pPr>
            <a:r>
              <a:rPr lang="en-US" sz="1000" b="1" dirty="0">
                <a:solidFill>
                  <a:srgbClr val="102C57"/>
                </a:solidFill>
                <a:latin typeface="Noto Sans SC" pitchFamily="34" charset="0"/>
                <a:ea typeface="Noto Sans SC" pitchFamily="34" charset="-122"/>
                <a:cs typeface="Noto Sans SC" pitchFamily="34" charset="-120"/>
              </a:rPr>
              <a:t>第</a:t>
            </a:r>
            <a:r>
              <a:rPr lang="en-US" sz="1000" b="1" dirty="0">
                <a:solidFill>
                  <a:srgbClr val="808080"/>
                </a:solidFill>
                <a:latin typeface="Noto Sans SC" pitchFamily="34" charset="0"/>
                <a:ea typeface="Noto Sans SC" pitchFamily="34" charset="-122"/>
                <a:cs typeface="Noto Sans SC" pitchFamily="34" charset="-120"/>
              </a:rPr>
              <a:t> </a:t>
            </a:r>
            <a:r>
              <a:rPr lang="en-US" sz="1000" dirty="0">
                <a:solidFill>
                  <a:srgbClr val="808080"/>
                </a:solidFill>
                <a:latin typeface="Noto Sans SC" pitchFamily="34" charset="0"/>
                <a:ea typeface="Noto Sans SC" pitchFamily="34" charset="-122"/>
                <a:cs typeface="Noto Sans SC" pitchFamily="34" charset="-120"/>
              </a:rPr>
              <a:t>07/16</a:t>
            </a:r>
            <a:endParaRPr lang="en-US" sz="1000" dirty="0"/>
          </a:p>
        </p:txBody>
      </p:sp>
      <p:sp>
        <p:nvSpPr>
          <p:cNvPr id="30" name="Hairline 3"/>
          <p:cNvSpPr/>
          <p:nvPr/>
        </p:nvSpPr>
        <p:spPr>
          <a:xfrm>
            <a:off x="6510528" y="4617720"/>
            <a:ext cx="4983480" cy="0"/>
          </a:xfrm>
          <a:prstGeom prst="line">
            <a:avLst/>
          </a:prstGeom>
          <a:noFill/>
          <a:ln w="9525">
            <a:solidFill>
              <a:srgbClr val="808080"/>
            </a:solidFill>
            <a:prstDash val="solid"/>
          </a:ln>
        </p:spPr>
      </p:sp>
      <p:sp>
        <p:nvSpPr>
          <p:cNvPr id="31" name="Label 3"/>
          <p:cNvSpPr/>
          <p:nvPr/>
        </p:nvSpPr>
        <p:spPr>
          <a:xfrm>
            <a:off x="6473952" y="4672583"/>
            <a:ext cx="4937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H3 同质性 · 英文子频道支持</a:t>
            </a:r>
          </a:p>
        </p:txBody>
      </p:sp>
      <p:sp>
        <p:nvSpPr>
          <p:cNvPr id="32" name="Row text 3"/>
          <p:cNvSpPr/>
          <p:nvPr/>
        </p:nvSpPr>
        <p:spPr>
          <a:xfrm>
            <a:off x="6473952" y="4965192"/>
            <a:ext cx="5029200" cy="96012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404040"/>
                </a:solidFill>
                <a:latin typeface="Noto Sans SC" pitchFamily="34" charset="0"/>
                <a:ea typeface="Noto Sans SC" pitchFamily="34" charset="-122"/>
                <a:cs typeface="Noto Sans SC" pitchFamily="34" charset="-120"/>
              </a:rPr>
              <a:t>资料（bio）越相似越容易相连：0.2371 vs 重连网络 0.2122；内容相似度 0.2063 vs 0.0627，均显著。中文子频道差异不显著。</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42716" y="0"/>
            <a:ext cx="8749894" cy="6858000"/>
          </a:xfrm>
          <a:prstGeom prst="rect">
            <a:avLst/>
          </a:prstGeom>
          <a:ln/>
        </p:spPr>
      </p:sp>
      <p:sp>
        <p:nvSpPr>
          <p:cNvPr id="3" name="Shape 1"/>
          <p:cNvSpPr/>
          <p:nvPr/>
        </p:nvSpPr>
        <p:spPr>
          <a:xfrm>
            <a:off x="3749039" y="3200400"/>
            <a:ext cx="7818120" cy="2468880"/>
          </a:xfrm>
          <a:prstGeom prst="rect">
            <a:avLst/>
          </a:prstGeom>
          <a:solidFill>
            <a:srgbClr val="F5F5F5"/>
          </a:solidFill>
          <a:ln w="9525">
            <a:solidFill>
              <a:srgbClr val="D9D9D9"/>
            </a:solidFill>
          </a:ln>
        </p:spPr>
      </p:sp>
      <p:sp>
        <p:nvSpPr>
          <p:cNvPr id="4" name="Text 2"/>
          <p:cNvSpPr/>
          <p:nvPr/>
        </p:nvSpPr>
        <p:spPr>
          <a:xfrm>
            <a:off x="535838" y="1691640"/>
            <a:ext cx="2926080" cy="146304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0D0D0D"/>
                </a:solidFill>
                <a:latin typeface="Noto Sans SC" pitchFamily="34" charset="0"/>
                <a:ea typeface="Noto Sans SC" pitchFamily="34" charset="-122"/>
                <a:cs typeface="Noto Sans SC" pitchFamily="34" charset="-120"/>
              </a:rPr>
              <a:t>Form Without Function: Agent Social Behavior in the Moltbook Network</a:t>
            </a:r>
          </a:p>
          <a:p>
            <a:pPr algn="l" indent="0" marL="0">
              <a:lnSpc>
                <a:spcPct val="115000"/>
              </a:lnSpc>
              <a:spcBef>
                <a:spcPts val="400"/>
              </a:spcBef>
              <a:buNone/>
            </a:pPr>
            <a:r>
              <a:rPr lang="en-US" sz="1400" dirty="0" b="0">
                <a:solidFill>
                  <a:srgbClr val="595959"/>
                </a:solidFill>
                <a:latin typeface="Noto Sans SC" pitchFamily="34" charset="0"/>
                <a:ea typeface="Noto Sans SC" pitchFamily="34" charset="-122"/>
                <a:cs typeface="Noto Sans SC" pitchFamily="34" charset="-120"/>
              </a:rPr>
              <a:t>Zerhoudi et al.（12 位作者），University of Passau</a:t>
            </a:r>
          </a:p>
        </p:txBody>
      </p:sp>
      <p:sp>
        <p:nvSpPr>
          <p:cNvPr id="5" name="Shape 3"/>
          <p:cNvSpPr/>
          <p:nvPr/>
        </p:nvSpPr>
        <p:spPr>
          <a:xfrm>
            <a:off x="646480" y="3246120"/>
            <a:ext cx="2651760" cy="0"/>
          </a:xfrm>
          <a:prstGeom prst="line">
            <a:avLst/>
          </a:prstGeom>
          <a:noFill/>
          <a:ln w="9525">
            <a:solidFill>
              <a:srgbClr val="404040"/>
            </a:solidFill>
            <a:prstDash val="solid"/>
          </a:ln>
        </p:spPr>
      </p:sp>
      <p:sp>
        <p:nvSpPr>
          <p:cNvPr id="6" name="Text 4"/>
          <p:cNvSpPr/>
          <p:nvPr/>
        </p:nvSpPr>
        <p:spPr>
          <a:xfrm>
            <a:off x="558698" y="3291840"/>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arXiv 2604.13052 · 预印本</a:t>
            </a:r>
          </a:p>
        </p:txBody>
      </p:sp>
      <p:sp>
        <p:nvSpPr>
          <p:cNvPr id="7" name="Text 5"/>
          <p:cNvSpPr/>
          <p:nvPr/>
        </p:nvSpPr>
        <p:spPr>
          <a:xfrm>
            <a:off x="535838" y="3657600"/>
            <a:ext cx="2926080" cy="1371600"/>
          </a:xfrm>
          <a:prstGeom prst="rect">
            <a:avLst/>
          </a:prstGeom>
          <a:noFill/>
          <a:ln/>
        </p:spPr>
        <p:txBody>
          <a:bodyPr wrap="square" lIns="91440" tIns="45720" rIns="91440" bIns="45720" rtlCol="0" anchor="t"/>
          <a:lstStyle/>
          <a:p>
            <a:pPr algn="l" indent="0" marL="0">
              <a:lnSpc>
                <a:spcPct val="125000"/>
              </a:lnSpc>
              <a:buNone/>
            </a:pPr>
            <a:r>
              <a:rPr lang="en-US" sz="1400" dirty="0" b="0">
                <a:solidFill>
                  <a:srgbClr val="404040"/>
                </a:solidFill>
                <a:latin typeface="Noto Sans SC" pitchFamily="34" charset="0"/>
                <a:ea typeface="Noto Sans SC" pitchFamily="34" charset="-122"/>
                <a:cs typeface="Noto Sans SC" pitchFamily="34" charset="-120"/>
              </a:rPr>
              <a:t>Moltbook 是首个流行的“agent-first”社交网络，参与者都是 AI 智能体；智能体经 OpenClaw 框架接入，默认每 30 分钟执行一次 heartbeat.md 清单。</a:t>
            </a:r>
          </a:p>
        </p:txBody>
      </p:sp>
      <p:sp>
        <p:nvSpPr>
          <p:cNvPr id="8" name="Shape 6"/>
          <p:cNvSpPr/>
          <p:nvPr/>
        </p:nvSpPr>
        <p:spPr>
          <a:xfrm>
            <a:off x="646480" y="5120640"/>
            <a:ext cx="2651760" cy="0"/>
          </a:xfrm>
          <a:prstGeom prst="line">
            <a:avLst/>
          </a:prstGeom>
          <a:noFill/>
          <a:ln w="9525">
            <a:solidFill>
              <a:srgbClr val="404040"/>
            </a:solidFill>
            <a:prstDash val="solid"/>
          </a:ln>
        </p:spPr>
      </p:sp>
      <p:sp>
        <p:nvSpPr>
          <p:cNvPr id="9" name="Text 7"/>
          <p:cNvSpPr/>
          <p:nvPr/>
        </p:nvSpPr>
        <p:spPr>
          <a:xfrm>
            <a:off x="558698" y="5166360"/>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背景</a:t>
            </a:r>
          </a:p>
        </p:txBody>
      </p:sp>
      <p:sp>
        <p:nvSpPr>
          <p:cNvPr id="10" name="Text 8"/>
          <p:cNvSpPr/>
          <p:nvPr/>
        </p:nvSpPr>
        <p:spPr>
          <a:xfrm>
            <a:off x="4023360" y="3383280"/>
            <a:ext cx="7269480" cy="1371600"/>
          </a:xfrm>
          <a:prstGeom prst="rect">
            <a:avLst/>
          </a:prstGeom>
          <a:noFill/>
          <a:ln/>
        </p:spPr>
        <p:txBody>
          <a:bodyPr wrap="square" lIns="91440" tIns="45720" rIns="91440" bIns="45720" rtlCol="0" anchor="t"/>
          <a:lstStyle/>
          <a:p>
            <a:pPr algn="l" indent="0" marL="0">
              <a:lnSpc>
                <a:spcPct val="130000"/>
              </a:lnSpc>
              <a:buNone/>
            </a:pPr>
            <a:r>
              <a:rPr lang="en-US" sz="1600" dirty="0" b="0">
                <a:solidFill>
                  <a:srgbClr val="262626"/>
                </a:solidFill>
                <a:latin typeface="Noto Sans SC" pitchFamily="34" charset="0"/>
                <a:ea typeface="Noto Sans SC" pitchFamily="34" charset="-122"/>
                <a:cs typeface="Noto Sans SC" pitchFamily="34" charset="-120"/>
              </a:rPr>
              <a:t>核心问题：Moltbook 只是复制了社交网络的“形式”，还是真的实现了社交的“功能”——持续对话、互惠关系、有共同兴趣的社区？</a:t>
            </a:r>
          </a:p>
        </p:txBody>
      </p:sp>
      <p:sp>
        <p:nvSpPr>
          <p:cNvPr id="11" name="Shape 9"/>
          <p:cNvSpPr/>
          <p:nvPr/>
        </p:nvSpPr>
        <p:spPr>
          <a:xfrm>
            <a:off x="4114800" y="4800600"/>
            <a:ext cx="7086600" cy="0"/>
          </a:xfrm>
          <a:prstGeom prst="line">
            <a:avLst/>
          </a:prstGeom>
          <a:noFill/>
          <a:ln w="9525">
            <a:solidFill>
              <a:srgbClr val="BFBFBF"/>
            </a:solidFill>
            <a:prstDash val="solid"/>
          </a:ln>
        </p:spPr>
      </p:sp>
      <p:sp>
        <p:nvSpPr>
          <p:cNvPr id="12" name="Text 10"/>
          <p:cNvSpPr/>
          <p:nvPr/>
        </p:nvSpPr>
        <p:spPr>
          <a:xfrm>
            <a:off x="4023360" y="4855464"/>
            <a:ext cx="7269480" cy="73152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采集：自研爬虫 MoltoCrawler，40 天（2026-01-27 至 03-09）；108,490 份智能体资料；数据集公开于 Hugging Face（PaDaS-Lab/moltbook-corpus）</a:t>
            </a:r>
          </a:p>
        </p:txBody>
      </p:sp>
      <p:sp>
        <p:nvSpPr>
          <p:cNvPr id="13" name="Text 11"/>
          <p:cNvSpPr/>
          <p:nvPr/>
        </p:nvSpPr>
        <p:spPr>
          <a:xfrm>
            <a:off x="524866"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4" name="Text 12"/>
          <p:cNvSpPr/>
          <p:nvPr/>
        </p:nvSpPr>
        <p:spPr>
          <a:xfrm>
            <a:off x="581558" y="6187653"/>
            <a:ext cx="1933042" cy="245974"/>
          </a:xfrm>
          <a:prstGeom prst="rect">
            <a:avLst/>
          </a:prstGeom>
          <a:noFill/>
          <a:ln/>
        </p:spPr>
        <p:txBody>
          <a:bodyPr wrap="square" lIns="91440" tIns="45720" rIns="91440" bIns="45720" rtlCol="0" anchor="t"/>
          <a:lstStyle/>
          <a:p>
            <a:pPr indent="0" marL="0">
              <a:buNone/>
            </a:pPr>
            <a:r>
              <a:rPr lang="en-US" sz="1000" b="1" dirty="0">
                <a:solidFill>
                  <a:srgbClr val="404040"/>
                </a:solidFill>
                <a:latin typeface="Noto Sans SC" pitchFamily="34" charset="0"/>
                <a:ea typeface="Noto Sans SC" pitchFamily="34" charset="-122"/>
                <a:cs typeface="Noto Sans SC" pitchFamily="34" charset="-120"/>
              </a:rPr>
              <a:t>论文</a:t>
            </a:r>
            <a:r>
              <a:rPr lang="en-US" sz="1000" dirty="0">
                <a:solidFill>
                  <a:srgbClr val="404040"/>
                </a:solidFill>
                <a:latin typeface="Noto Sans SC" pitchFamily="34" charset="0"/>
                <a:ea typeface="Noto Sans SC" pitchFamily="34" charset="-122"/>
                <a:cs typeface="Noto Sans SC" pitchFamily="34" charset="-120"/>
              </a:rPr>
              <a:t> 研讨</a:t>
            </a:r>
            <a:endParaRPr lang="en-US" sz="1000" dirty="0"/>
          </a:p>
        </p:txBody>
      </p:sp>
      <p:sp>
        <p:nvSpPr>
          <p:cNvPr id="15" name="Shape 13"/>
          <p:cNvSpPr/>
          <p:nvPr/>
        </p:nvSpPr>
        <p:spPr>
          <a:xfrm>
            <a:off x="1862907" y="6320790"/>
            <a:ext cx="445770" cy="0"/>
          </a:xfrm>
          <a:prstGeom prst="line">
            <a:avLst/>
          </a:prstGeom>
          <a:noFill/>
          <a:ln w="12700">
            <a:solidFill>
              <a:srgbClr val="0D0D0D"/>
            </a:solidFill>
            <a:prstDash val="solid"/>
          </a:ln>
        </p:spPr>
      </p:sp>
      <p:sp>
        <p:nvSpPr>
          <p:cNvPr id="16" name="Text 14"/>
          <p:cNvSpPr/>
          <p:nvPr/>
        </p:nvSpPr>
        <p:spPr>
          <a:xfrm>
            <a:off x="2228667"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102C57"/>
                </a:solidFill>
                <a:latin typeface="Noto Sans SC" pitchFamily="34" charset="0"/>
                <a:ea typeface="Noto Sans SC" pitchFamily="34" charset="-122"/>
                <a:cs typeface="Noto Sans SC" pitchFamily="34" charset="-120"/>
              </a:rPr>
              <a:t>共 16 页</a:t>
            </a:r>
          </a:p>
        </p:txBody>
      </p:sp>
      <p:sp>
        <p:nvSpPr>
          <p:cNvPr id="17" name="Text 15"/>
          <p:cNvSpPr/>
          <p:nvPr/>
        </p:nvSpPr>
        <p:spPr>
          <a:xfrm>
            <a:off x="10629900" y="6267298"/>
            <a:ext cx="1008949" cy="245974"/>
          </a:xfrm>
          <a:prstGeom prst="rect">
            <a:avLst/>
          </a:prstGeom>
          <a:noFill/>
          <a:ln/>
        </p:spPr>
        <p:txBody>
          <a:bodyPr wrap="square" lIns="91440" tIns="45720" rIns="91440" bIns="45720" rtlCol="0" anchor="t"/>
          <a:lstStyle/>
          <a:p>
            <a:pPr algn="r" indent="0" marL="0">
              <a:buNone/>
            </a:pPr>
            <a:r>
              <a:rPr lang="en-US" sz="1000" b="1" dirty="0">
                <a:solidFill>
                  <a:srgbClr val="404040"/>
                </a:solidFill>
                <a:latin typeface="Noto Sans SC" pitchFamily="34" charset="0"/>
                <a:ea typeface="Noto Sans SC" pitchFamily="34" charset="-122"/>
                <a:cs typeface="Noto Sans SC" pitchFamily="34" charset="-120"/>
              </a:rPr>
              <a:t>第 </a:t>
            </a:r>
            <a:r>
              <a:rPr lang="en-US" sz="1000" dirty="0">
                <a:solidFill>
                  <a:srgbClr val="404040"/>
                </a:solidFill>
                <a:latin typeface="Noto Sans SC" pitchFamily="34" charset="0"/>
                <a:ea typeface="Noto Sans SC" pitchFamily="34" charset="-122"/>
                <a:cs typeface="Noto Sans SC" pitchFamily="34" charset="-120"/>
              </a:rPr>
              <a:t>08/16</a:t>
            </a:r>
            <a:endParaRPr lang="en-US" sz="1000" dirty="0"/>
          </a:p>
        </p:txBody>
      </p:sp>
      <p:sp>
        <p:nvSpPr>
          <p:cNvPr id="30" name="Heading"/>
          <p:cNvSpPr/>
          <p:nvPr/>
        </p:nvSpPr>
        <p:spPr>
          <a:xfrm>
            <a:off x="535838" y="777240"/>
            <a:ext cx="10972800" cy="685800"/>
          </a:xfrm>
          <a:prstGeom prst="rect">
            <a:avLst/>
          </a:prstGeom>
          <a:noFill/>
          <a:ln/>
        </p:spPr>
        <p:txBody>
          <a:bodyPr wrap="square" lIns="91440" tIns="45720" rIns="91440" bIns="45720" rtlCol="0" anchor="t"/>
          <a:lstStyle/>
          <a:p>
            <a:pPr algn="l" indent="0" marL="0">
              <a:lnSpc>
                <a:spcPct val="100000"/>
              </a:lnSpc>
              <a:buNone/>
            </a:pPr>
            <a:r>
              <a:rPr lang="en-US" sz="3200" dirty="0" b="0">
                <a:solidFill>
                  <a:srgbClr val="0D0D0D"/>
                </a:solidFill>
                <a:latin typeface="Noto Sans SC" pitchFamily="34" charset="0"/>
                <a:ea typeface="Noto Sans SC" pitchFamily="34" charset="-122"/>
                <a:cs typeface="Noto Sans SC" pitchFamily="34" charset="-120"/>
              </a:rPr>
              <a:t>P3 背景与数据：Moltbook</a:t>
            </a:r>
          </a:p>
        </p:txBody>
      </p:sp>
      <p:sp>
        <p:nvSpPr>
          <p:cNvPr id="31" name="Stat 1"/>
          <p:cNvSpPr/>
          <p:nvPr/>
        </p:nvSpPr>
        <p:spPr>
          <a:xfrm>
            <a:off x="3749039" y="1691640"/>
            <a:ext cx="1920240" cy="640080"/>
          </a:xfrm>
          <a:prstGeom prst="rect">
            <a:avLst/>
          </a:prstGeom>
          <a:noFill/>
          <a:ln/>
        </p:spPr>
        <p:txBody>
          <a:bodyPr wrap="square" lIns="91440" tIns="45720" rIns="91440" bIns="45720" rtlCol="0" anchor="t"/>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1,312,238</a:t>
            </a:r>
          </a:p>
        </p:txBody>
      </p:sp>
      <p:sp>
        <p:nvSpPr>
          <p:cNvPr id="35" name="Stat label 1"/>
          <p:cNvSpPr/>
          <p:nvPr/>
        </p:nvSpPr>
        <p:spPr>
          <a:xfrm>
            <a:off x="3749039" y="2331720"/>
            <a:ext cx="1874519" cy="4572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帖子</a:t>
            </a:r>
          </a:p>
        </p:txBody>
      </p:sp>
      <p:sp>
        <p:nvSpPr>
          <p:cNvPr id="32" name="Stat 2"/>
          <p:cNvSpPr/>
          <p:nvPr/>
        </p:nvSpPr>
        <p:spPr>
          <a:xfrm>
            <a:off x="5696712" y="1691640"/>
            <a:ext cx="1920240" cy="640080"/>
          </a:xfrm>
          <a:prstGeom prst="rect">
            <a:avLst/>
          </a:prstGeom>
          <a:noFill/>
          <a:ln/>
        </p:spPr>
        <p:txBody>
          <a:bodyPr wrap="square" lIns="91440" tIns="45720" rIns="91440" bIns="45720" rtlCol="0" anchor="t"/>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6,706,016</a:t>
            </a:r>
          </a:p>
        </p:txBody>
      </p:sp>
      <p:sp>
        <p:nvSpPr>
          <p:cNvPr id="36" name="Stat label 2"/>
          <p:cNvSpPr/>
          <p:nvPr/>
        </p:nvSpPr>
        <p:spPr>
          <a:xfrm>
            <a:off x="5696712" y="2331720"/>
            <a:ext cx="1874519" cy="4572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评论（原始抓取）</a:t>
            </a:r>
          </a:p>
        </p:txBody>
      </p:sp>
      <p:sp>
        <p:nvSpPr>
          <p:cNvPr id="33" name="Stat 3"/>
          <p:cNvSpPr/>
          <p:nvPr/>
        </p:nvSpPr>
        <p:spPr>
          <a:xfrm>
            <a:off x="7644383" y="1691640"/>
            <a:ext cx="1920240" cy="640080"/>
          </a:xfrm>
          <a:prstGeom prst="rect">
            <a:avLst/>
          </a:prstGeom>
          <a:noFill/>
          <a:ln/>
        </p:spPr>
        <p:txBody>
          <a:bodyPr wrap="square" lIns="91440" tIns="45720" rIns="91440" bIns="45720" rtlCol="0" anchor="t"/>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120,811</a:t>
            </a:r>
          </a:p>
        </p:txBody>
      </p:sp>
      <p:sp>
        <p:nvSpPr>
          <p:cNvPr id="37" name="Stat label 3"/>
          <p:cNvSpPr/>
          <p:nvPr/>
        </p:nvSpPr>
        <p:spPr>
          <a:xfrm>
            <a:off x="7644383" y="2331720"/>
            <a:ext cx="1874519" cy="4572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独立发帖作者</a:t>
            </a:r>
          </a:p>
        </p:txBody>
      </p:sp>
      <p:sp>
        <p:nvSpPr>
          <p:cNvPr id="34" name="Stat 4"/>
          <p:cNvSpPr/>
          <p:nvPr/>
        </p:nvSpPr>
        <p:spPr>
          <a:xfrm>
            <a:off x="9592055" y="1691640"/>
            <a:ext cx="1920240" cy="640080"/>
          </a:xfrm>
          <a:prstGeom prst="rect">
            <a:avLst/>
          </a:prstGeom>
          <a:noFill/>
          <a:ln/>
        </p:spPr>
        <p:txBody>
          <a:bodyPr wrap="square" lIns="91440" tIns="45720" rIns="91440" bIns="45720" rtlCol="0" anchor="t"/>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5,400</a:t>
            </a:r>
          </a:p>
        </p:txBody>
      </p:sp>
      <p:sp>
        <p:nvSpPr>
          <p:cNvPr id="38" name="Stat label 4"/>
          <p:cNvSpPr/>
          <p:nvPr/>
        </p:nvSpPr>
        <p:spPr>
          <a:xfrm>
            <a:off x="9592055" y="2331720"/>
            <a:ext cx="1874519" cy="4572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社区（submolts）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1"/>
          <p:cNvSpPr/>
          <p:nvPr/>
        </p:nvSpPr>
        <p:spPr>
          <a:xfrm>
            <a:off x="718718" y="1965960"/>
            <a:ext cx="3178454" cy="3566160"/>
          </a:xfrm>
          <a:prstGeom prst="rect">
            <a:avLst/>
          </a:prstGeom>
          <a:solidFill>
            <a:srgbClr val="F5F5F5"/>
          </a:solidFill>
          <a:ln w="9525">
            <a:solidFill>
              <a:srgbClr val="D9D9D9"/>
            </a:solidFill>
          </a:ln>
        </p:spPr>
      </p:sp>
      <p:sp>
        <p:nvSpPr>
          <p:cNvPr id="4" name="Shape 2"/>
          <p:cNvSpPr/>
          <p:nvPr/>
        </p:nvSpPr>
        <p:spPr>
          <a:xfrm>
            <a:off x="4161434" y="1965960"/>
            <a:ext cx="3178454" cy="3566160"/>
          </a:xfrm>
          <a:prstGeom prst="rect">
            <a:avLst/>
          </a:prstGeom>
          <a:solidFill>
            <a:srgbClr val="F5F5F5"/>
          </a:solidFill>
          <a:ln w="9525">
            <a:solidFill>
              <a:srgbClr val="D9D9D9"/>
            </a:solidFill>
          </a:ln>
        </p:spPr>
      </p:sp>
      <p:sp>
        <p:nvSpPr>
          <p:cNvPr id="5" name="Shape 3"/>
          <p:cNvSpPr/>
          <p:nvPr/>
        </p:nvSpPr>
        <p:spPr>
          <a:xfrm>
            <a:off x="7605065" y="1965960"/>
            <a:ext cx="3178454" cy="3566160"/>
          </a:xfrm>
          <a:prstGeom prst="rect">
            <a:avLst/>
          </a:prstGeom>
          <a:solidFill>
            <a:srgbClr val="F5F5F5"/>
          </a:solidFill>
          <a:ln w="9525">
            <a:solidFill>
              <a:srgbClr val="D9D9D9"/>
            </a:solidFill>
          </a:ln>
        </p:spPr>
      </p:sp>
      <p:sp>
        <p:nvSpPr>
          <p:cNvPr id="6" name="Text 4"/>
          <p:cNvSpPr/>
          <p:nvPr/>
        </p:nvSpPr>
        <p:spPr>
          <a:xfrm>
            <a:off x="718718" y="868680"/>
            <a:ext cx="10753344" cy="731520"/>
          </a:xfrm>
          <a:prstGeom prst="rect">
            <a:avLst/>
          </a:prstGeom>
          <a:noFill/>
          <a:ln/>
        </p:spPr>
        <p:txBody>
          <a:bodyPr wrap="square" lIns="91440" tIns="45720" rIns="91440" bIns="45720" rtlCol="0" anchor="t"/>
          <a:lstStyle/>
          <a:p>
            <a:pPr algn="ctr" indent="0" marL="0">
              <a:lnSpc>
                <a:spcPct val="100000"/>
              </a:lnSpc>
              <a:buNone/>
            </a:pPr>
            <a:r>
              <a:rPr lang="en-US" sz="3600" dirty="0" b="0">
                <a:solidFill>
                  <a:srgbClr val="0D0D0D"/>
                </a:solidFill>
                <a:latin typeface="Noto Sans SC" pitchFamily="34" charset="0"/>
                <a:ea typeface="Noto Sans SC" pitchFamily="34" charset="-122"/>
                <a:cs typeface="Noto Sans SC" pitchFamily="34" charset="-120"/>
              </a:rPr>
              <a:t>P3 方法：三层分析框架</a:t>
            </a:r>
          </a:p>
        </p:txBody>
      </p:sp>
      <p:sp>
        <p:nvSpPr>
          <p:cNvPr id="7" name="Text 5"/>
          <p:cNvSpPr/>
          <p:nvPr/>
        </p:nvSpPr>
        <p:spPr>
          <a:xfrm>
            <a:off x="919886" y="2103120"/>
            <a:ext cx="2788920" cy="2788920"/>
          </a:xfrm>
          <a:prstGeom prst="rect">
            <a:avLst/>
          </a:prstGeom>
          <a:noFill/>
          <a:ln/>
        </p:spPr>
        <p:txBody>
          <a:bodyPr wrap="square" lIns="91440" tIns="45720" rIns="91440" bIns="45720" rtlCol="0" anchor="t"/>
          <a:lstStyle/>
          <a:p>
            <a:pPr algn="l" indent="0" marL="0">
              <a:lnSpc>
                <a:spcPct val="125000"/>
              </a:lnSpc>
              <a:buNone/>
            </a:pPr>
            <a:r>
              <a:rPr lang="en-US" sz="1600" dirty="0" b="1">
                <a:solidFill>
                  <a:srgbClr val="0D0D0D"/>
                </a:solidFill>
                <a:latin typeface="Noto Sans SC" pitchFamily="34" charset="0"/>
                <a:ea typeface="Noto Sans SC" pitchFamily="34" charset="-122"/>
                <a:cs typeface="Noto Sans SC" pitchFamily="34" charset="-120"/>
              </a:rPr>
              <a:t>① 交互层 Interaction</a:t>
            </a:r>
          </a:p>
          <a:p>
            <a:pPr algn="l" indent="0" marL="0">
              <a:lnSpc>
                <a:spcPct val="125000"/>
              </a:lnSpc>
              <a:spcBef>
                <a:spcPts val="600"/>
              </a:spcBef>
              <a:buNone/>
            </a:pPr>
            <a:r>
              <a:rPr lang="en-US" sz="1400" dirty="0" b="0">
                <a:solidFill>
                  <a:srgbClr val="404040"/>
                </a:solidFill>
                <a:latin typeface="Noto Sans SC" pitchFamily="34" charset="0"/>
                <a:ea typeface="Noto Sans SC" pitchFamily="34" charset="-122"/>
                <a:cs typeface="Noto Sans SC" pitchFamily="34" charset="-120"/>
              </a:rPr>
              <a:t>智能体有没有社交行为？看四点：参与度（帖子是否得到有意义回应）、互惠性（是否双向互动）、声誉信号（投票与 karma 是否反映质量）、论证性互动（用微调的 RoBERTa 论证关系分类器判断回复是否支持、反驳或改述）。</a:t>
            </a:r>
          </a:p>
        </p:txBody>
      </p:sp>
      <p:sp>
        <p:nvSpPr>
          <p:cNvPr id="8" name="Shape 6"/>
          <p:cNvSpPr/>
          <p:nvPr/>
        </p:nvSpPr>
        <p:spPr>
          <a:xfrm>
            <a:off x="993037" y="4983480"/>
            <a:ext cx="2651760" cy="0"/>
          </a:xfrm>
          <a:prstGeom prst="line">
            <a:avLst/>
          </a:prstGeom>
          <a:noFill/>
          <a:ln w="9525">
            <a:solidFill>
              <a:srgbClr val="BFBFBF"/>
            </a:solidFill>
            <a:prstDash val="solid"/>
          </a:ln>
        </p:spPr>
      </p:sp>
      <p:sp>
        <p:nvSpPr>
          <p:cNvPr id="9" name="Text 7"/>
          <p:cNvSpPr/>
          <p:nvPr/>
        </p:nvSpPr>
        <p:spPr>
          <a:xfrm>
            <a:off x="919886" y="5047488"/>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社交是否发生？</a:t>
            </a:r>
          </a:p>
        </p:txBody>
      </p:sp>
      <p:sp>
        <p:nvSpPr>
          <p:cNvPr id="10" name="Text 8"/>
          <p:cNvSpPr/>
          <p:nvPr/>
        </p:nvSpPr>
        <p:spPr>
          <a:xfrm>
            <a:off x="4362602" y="2103120"/>
            <a:ext cx="2788920" cy="2788920"/>
          </a:xfrm>
          <a:prstGeom prst="rect">
            <a:avLst/>
          </a:prstGeom>
          <a:noFill/>
          <a:ln/>
        </p:spPr>
        <p:txBody>
          <a:bodyPr wrap="square" lIns="91440" tIns="45720" rIns="91440" bIns="45720" rtlCol="0" anchor="t"/>
          <a:lstStyle/>
          <a:p>
            <a:pPr algn="l" indent="0" marL="0">
              <a:lnSpc>
                <a:spcPct val="125000"/>
              </a:lnSpc>
              <a:buNone/>
            </a:pPr>
            <a:r>
              <a:rPr lang="en-US" sz="1600" dirty="0" b="1">
                <a:solidFill>
                  <a:srgbClr val="0D0D0D"/>
                </a:solidFill>
                <a:latin typeface="Noto Sans SC" pitchFamily="34" charset="0"/>
                <a:ea typeface="Noto Sans SC" pitchFamily="34" charset="-122"/>
                <a:cs typeface="Noto Sans SC" pitchFamily="34" charset="-120"/>
              </a:rPr>
              <a:t>② 内容层 Content</a:t>
            </a:r>
          </a:p>
          <a:p>
            <a:pPr algn="l" indent="0" marL="0">
              <a:lnSpc>
                <a:spcPct val="125000"/>
              </a:lnSpc>
              <a:spcBef>
                <a:spcPts val="600"/>
              </a:spcBef>
              <a:buNone/>
            </a:pPr>
            <a:r>
              <a:rPr lang="en-US" sz="1400" dirty="0" b="0">
                <a:solidFill>
                  <a:srgbClr val="404040"/>
                </a:solidFill>
                <a:latin typeface="Noto Sans SC" pitchFamily="34" charset="0"/>
                <a:ea typeface="Noto Sans SC" pitchFamily="34" charset="-122"/>
                <a:cs typeface="Noto Sans SC" pitchFamily="34" charset="-120"/>
              </a:rPr>
              <a:t>产出的内容有没有意义？看三点：身份一致性（bio 与发帖行为是否相符）、社区连贯性（把帖子分为 13 类主题，用 Shannon 熵衡量社区是否聚焦）、信息连通性（分享的链接是否指向外部知识源）。</a:t>
            </a:r>
          </a:p>
        </p:txBody>
      </p:sp>
      <p:sp>
        <p:nvSpPr>
          <p:cNvPr id="11" name="Shape 9"/>
          <p:cNvSpPr/>
          <p:nvPr/>
        </p:nvSpPr>
        <p:spPr>
          <a:xfrm>
            <a:off x="4435754" y="4983480"/>
            <a:ext cx="2651760" cy="0"/>
          </a:xfrm>
          <a:prstGeom prst="line">
            <a:avLst/>
          </a:prstGeom>
          <a:noFill/>
          <a:ln w="9525">
            <a:solidFill>
              <a:srgbClr val="BFBFBF"/>
            </a:solidFill>
            <a:prstDash val="solid"/>
          </a:ln>
        </p:spPr>
      </p:sp>
      <p:sp>
        <p:nvSpPr>
          <p:cNvPr id="12" name="Text 10"/>
          <p:cNvSpPr/>
          <p:nvPr/>
        </p:nvSpPr>
        <p:spPr>
          <a:xfrm>
            <a:off x="4362602" y="5047488"/>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内容是否有意义？</a:t>
            </a:r>
          </a:p>
        </p:txBody>
      </p:sp>
      <p:sp>
        <p:nvSpPr>
          <p:cNvPr id="13" name="Text 11"/>
          <p:cNvSpPr/>
          <p:nvPr/>
        </p:nvSpPr>
        <p:spPr>
          <a:xfrm>
            <a:off x="7806233" y="2103120"/>
            <a:ext cx="2788920" cy="2788920"/>
          </a:xfrm>
          <a:prstGeom prst="rect">
            <a:avLst/>
          </a:prstGeom>
          <a:noFill/>
          <a:ln/>
        </p:spPr>
        <p:txBody>
          <a:bodyPr wrap="square" lIns="91440" tIns="45720" rIns="91440" bIns="45720" rtlCol="0" anchor="t"/>
          <a:lstStyle/>
          <a:p>
            <a:pPr algn="l" indent="0" marL="0">
              <a:lnSpc>
                <a:spcPct val="125000"/>
              </a:lnSpc>
              <a:buNone/>
            </a:pPr>
            <a:r>
              <a:rPr lang="en-US" sz="1600" dirty="0" b="1">
                <a:solidFill>
                  <a:srgbClr val="0D0D0D"/>
                </a:solidFill>
                <a:latin typeface="Noto Sans SC" pitchFamily="34" charset="0"/>
                <a:ea typeface="Noto Sans SC" pitchFamily="34" charset="-122"/>
                <a:cs typeface="Noto Sans SC" pitchFamily="34" charset="-120"/>
              </a:rPr>
              <a:t>③ 指令层 Instruction</a:t>
            </a:r>
          </a:p>
          <a:p>
            <a:pPr algn="l" indent="0" marL="0">
              <a:lnSpc>
                <a:spcPct val="125000"/>
              </a:lnSpc>
              <a:spcBef>
                <a:spcPts val="600"/>
              </a:spcBef>
              <a:buNone/>
            </a:pPr>
            <a:r>
              <a:rPr lang="en-US" sz="1400" dirty="0" b="0">
                <a:solidFill>
                  <a:srgbClr val="404040"/>
                </a:solidFill>
                <a:latin typeface="Noto Sans SC" pitchFamily="34" charset="0"/>
                <a:ea typeface="Noto Sans SC" pitchFamily="34" charset="-122"/>
                <a:cs typeface="Noto Sans SC" pitchFamily="34" charset="-120"/>
              </a:rPr>
              <a:t>为什么会这样？智能体执行平台文件 skill.md、heartbeat.md、rules.md。作者用 41 个 Wayback Machine 快照找出观察期内 6 次指令变更，当作前后对比的自然实验，区分硬约束与软引导的效果。</a:t>
            </a:r>
          </a:p>
        </p:txBody>
      </p:sp>
      <p:sp>
        <p:nvSpPr>
          <p:cNvPr id="14" name="Shape 12"/>
          <p:cNvSpPr/>
          <p:nvPr/>
        </p:nvSpPr>
        <p:spPr>
          <a:xfrm>
            <a:off x="7879385" y="4983480"/>
            <a:ext cx="2651760" cy="0"/>
          </a:xfrm>
          <a:prstGeom prst="line">
            <a:avLst/>
          </a:prstGeom>
          <a:noFill/>
          <a:ln w="9525">
            <a:solidFill>
              <a:srgbClr val="BFBFBF"/>
            </a:solidFill>
            <a:prstDash val="solid"/>
          </a:ln>
        </p:spPr>
      </p:sp>
      <p:sp>
        <p:nvSpPr>
          <p:cNvPr id="15" name="Text 13"/>
          <p:cNvSpPr/>
          <p:nvPr/>
        </p:nvSpPr>
        <p:spPr>
          <a:xfrm>
            <a:off x="7806233" y="5047488"/>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原因在哪里？</a:t>
            </a:r>
          </a:p>
        </p:txBody>
      </p:sp>
      <p:sp>
        <p:nvSpPr>
          <p:cNvPr id="16" name="Text 14"/>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30" name="Footnote"/>
          <p:cNvSpPr/>
          <p:nvPr/>
        </p:nvSpPr>
        <p:spPr>
          <a:xfrm>
            <a:off x="718718" y="5715000"/>
            <a:ext cx="10753344" cy="411480"/>
          </a:xfrm>
          <a:prstGeom prst="rect">
            <a:avLst/>
          </a:prstGeom>
          <a:noFill/>
          <a:ln/>
        </p:spPr>
        <p:txBody>
          <a:bodyPr wrap="square" lIns="91440" tIns="45720" rIns="91440" bIns="45720" rtlCol="0" anchor="t"/>
          <a:lstStyle/>
          <a:p>
            <a:pPr algn="ctr" indent="0" marL="0">
              <a:lnSpc>
                <a:spcPct val="100000"/>
              </a:lnSpc>
              <a:buNone/>
            </a:pPr>
            <a:r>
              <a:rPr lang="en-US" sz="1400" dirty="0" b="0">
                <a:solidFill>
                  <a:srgbClr val="595959"/>
                </a:solidFill>
                <a:latin typeface="Noto Sans SC" pitchFamily="34" charset="0"/>
                <a:ea typeface="Noto Sans SC" pitchFamily="34" charset="-122"/>
                <a:cs typeface="Noto Sans SC" pitchFamily="34" charset="-120"/>
              </a:rPr>
              <a:t>此外还有一条分支：技术风险与毒性内容（凭证泄露、攻击讨论、有害言论）。</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806440" y="914400"/>
            <a:ext cx="5715000" cy="5074920"/>
          </a:xfrm>
          <a:prstGeom prst="rect">
            <a:avLst/>
          </a:prstGeom>
          <a:solidFill>
            <a:srgbClr val="F5F5F5"/>
          </a:solidFill>
          <a:ln w="9525">
            <a:solidFill>
              <a:srgbClr val="D9D9D9"/>
            </a:solidFill>
          </a:ln>
        </p:spPr>
      </p:sp>
      <p:sp>
        <p:nvSpPr>
          <p:cNvPr id="4" name="Text 2"/>
          <p:cNvSpPr/>
          <p:nvPr/>
        </p:nvSpPr>
        <p:spPr>
          <a:xfrm>
            <a:off x="718718" y="1463040"/>
            <a:ext cx="4846320" cy="3200400"/>
          </a:xfrm>
          <a:prstGeom prst="rect">
            <a:avLst/>
          </a:prstGeom>
          <a:noFill/>
          <a:ln/>
        </p:spPr>
        <p:txBody>
          <a:bodyPr wrap="square" lIns="91440" tIns="45720" rIns="91440" bIns="45720" rtlCol="0" anchor="t"/>
          <a:lstStyle/>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1–3  </a:t>
            </a:r>
            <a:r>
              <a:rPr lang="en-US" sz="1400" dirty="0" b="0">
                <a:solidFill>
                  <a:srgbClr val="404040"/>
                </a:solidFill>
                <a:latin typeface="Noto Sans SC" pitchFamily="34" charset="0"/>
                <a:ea typeface="Noto Sans SC" pitchFamily="34" charset="-122"/>
                <a:cs typeface="Noto Sans SC" pitchFamily="34" charset="-120"/>
              </a:rPr>
              <a:t>智能体流失、发帖周期、泊松过程检验</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4–5  </a:t>
            </a:r>
            <a:r>
              <a:rPr lang="en-US" sz="1400" dirty="0" b="0">
                <a:solidFill>
                  <a:srgbClr val="404040"/>
                </a:solidFill>
                <a:latin typeface="Noto Sans SC" pitchFamily="34" charset="0"/>
                <a:ea typeface="Noto Sans SC" pitchFamily="34" charset="-122"/>
                <a:cs typeface="Noto Sans SC" pitchFamily="34" charset="-120"/>
              </a:rPr>
              <a:t>参与度断崖、线程劫持</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6  </a:t>
            </a:r>
            <a:r>
              <a:rPr lang="en-US" sz="1400" dirty="0" b="0">
                <a:solidFill>
                  <a:srgbClr val="404040"/>
                </a:solidFill>
                <a:latin typeface="Noto Sans SC" pitchFamily="34" charset="0"/>
                <a:ea typeface="Noto Sans SC" pitchFamily="34" charset="-122"/>
                <a:cs typeface="Noto Sans SC" pitchFamily="34" charset="-120"/>
              </a:rPr>
              <a:t>karma 经济（Lorenz 曲线）</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7–8  </a:t>
            </a:r>
            <a:r>
              <a:rPr lang="en-US" sz="1400" dirty="0" b="0">
                <a:solidFill>
                  <a:srgbClr val="404040"/>
                </a:solidFill>
                <a:latin typeface="Noto Sans SC" pitchFamily="34" charset="0"/>
                <a:ea typeface="Noto Sans SC" pitchFamily="34" charset="-122"/>
                <a:cs typeface="Noto Sans SC" pitchFamily="34" charset="-120"/>
              </a:rPr>
              <a:t>论证关系分布</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9–10  </a:t>
            </a:r>
            <a:r>
              <a:rPr lang="en-US" sz="1400" dirty="0" b="0">
                <a:solidFill>
                  <a:srgbClr val="404040"/>
                </a:solidFill>
                <a:latin typeface="Noto Sans SC" pitchFamily="34" charset="0"/>
                <a:ea typeface="Noto Sans SC" pitchFamily="34" charset="-122"/>
                <a:cs typeface="Noto Sans SC" pitchFamily="34" charset="-120"/>
              </a:rPr>
              <a:t>bio 悖论、orchestrator 网络</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11–12  </a:t>
            </a:r>
            <a:r>
              <a:rPr lang="en-US" sz="1400" dirty="0" b="0">
                <a:solidFill>
                  <a:srgbClr val="404040"/>
                </a:solidFill>
                <a:latin typeface="Noto Sans SC" pitchFamily="34" charset="0"/>
                <a:ea typeface="Noto Sans SC" pitchFamily="34" charset="-122"/>
                <a:cs typeface="Noto Sans SC" pitchFamily="34" charset="-120"/>
              </a:rPr>
              <a:t>社区主题构成、URL 生态</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13  </a:t>
            </a:r>
            <a:r>
              <a:rPr lang="en-US" sz="1400" dirty="0" b="0">
                <a:solidFill>
                  <a:srgbClr val="404040"/>
                </a:solidFill>
                <a:latin typeface="Noto Sans SC" pitchFamily="34" charset="0"/>
                <a:ea typeface="Noto Sans SC" pitchFamily="34" charset="-122"/>
                <a:cs typeface="Noto Sans SC" pitchFamily="34" charset="-120"/>
              </a:rPr>
              <a:t>四个指令变更自然实验</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14  </a:t>
            </a:r>
            <a:r>
              <a:rPr lang="en-US" sz="1400" dirty="0" b="0">
                <a:solidFill>
                  <a:srgbClr val="404040"/>
                </a:solidFill>
                <a:latin typeface="Noto Sans SC" pitchFamily="34" charset="0"/>
                <a:ea typeface="Noto Sans SC" pitchFamily="34" charset="-122"/>
                <a:cs typeface="Noto Sans SC" pitchFamily="34" charset="-120"/>
              </a:rPr>
              <a:t>攻击讨论聚类（UMAP）</a:t>
            </a:r>
          </a:p>
          <a:p>
            <a:pPr algn="l" indent="0" marL="0">
              <a:lnSpc>
                <a:spcPct val="115000"/>
              </a:lnSpc>
              <a:spcBef>
                <a:spcPts val="300"/>
              </a:spcBef>
              <a:buNone/>
            </a:pPr>
            <a:r>
              <a:rPr lang="en-US" sz="1400" dirty="0" b="1">
                <a:solidFill>
                  <a:srgbClr val="102C57"/>
                </a:solidFill>
                <a:latin typeface="Noto Sans SC" pitchFamily="34" charset="0"/>
                <a:ea typeface="Noto Sans SC" pitchFamily="34" charset="-122"/>
                <a:cs typeface="Noto Sans SC" pitchFamily="34" charset="-120"/>
              </a:rPr>
              <a:t>Fig. 15–18  </a:t>
            </a:r>
            <a:r>
              <a:rPr lang="en-US" sz="1400" dirty="0" b="0">
                <a:solidFill>
                  <a:srgbClr val="404040"/>
                </a:solidFill>
                <a:latin typeface="Noto Sans SC" pitchFamily="34" charset="0"/>
                <a:ea typeface="Noto Sans SC" pitchFamily="34" charset="-122"/>
                <a:cs typeface="Noto Sans SC" pitchFamily="34" charset="-120"/>
              </a:rPr>
              <a:t>线程贡献、内容长度与时间分布</a:t>
            </a:r>
          </a:p>
        </p:txBody>
      </p:sp>
      <p:sp>
        <p:nvSpPr>
          <p:cNvPr id="5" name="Shape 3"/>
          <p:cNvSpPr/>
          <p:nvPr/>
        </p:nvSpPr>
        <p:spPr>
          <a:xfrm>
            <a:off x="822960" y="4709160"/>
            <a:ext cx="4663440" cy="0"/>
          </a:xfrm>
          <a:prstGeom prst="line">
            <a:avLst/>
          </a:prstGeom>
          <a:noFill/>
          <a:ln w="9525">
            <a:solidFill>
              <a:srgbClr val="808080"/>
            </a:solidFill>
            <a:prstDash val="solid"/>
          </a:ln>
        </p:spPr>
      </p:sp>
      <p:sp>
        <p:nvSpPr>
          <p:cNvPr id="6" name="Text 4"/>
          <p:cNvSpPr/>
          <p:nvPr/>
        </p:nvSpPr>
        <p:spPr>
          <a:xfrm>
            <a:off x="718718" y="4754880"/>
            <a:ext cx="274320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论文中的图（Fig. 1–18）</a:t>
            </a:r>
          </a:p>
        </p:txBody>
      </p:sp>
      <p:sp>
        <p:nvSpPr>
          <p:cNvPr id="9" name="Text 7"/>
          <p:cNvSpPr/>
          <p:nvPr/>
        </p:nvSpPr>
        <p:spPr>
          <a:xfrm>
            <a:off x="718718" y="5074920"/>
            <a:ext cx="4846320" cy="914400"/>
          </a:xfrm>
          <a:prstGeom prst="rect">
            <a:avLst/>
          </a:prstGeom>
          <a:noFill/>
          <a:ln/>
        </p:spPr>
        <p:txBody>
          <a:bodyPr wrap="square" lIns="91440" tIns="45720" rIns="91440" bIns="45720" rtlCol="0" anchor="t"/>
          <a:lstStyle/>
          <a:p>
            <a:pPr algn="l" indent="0" marL="0">
              <a:lnSpc>
                <a:spcPct val="115000"/>
              </a:lnSpc>
              <a:buNone/>
            </a:pPr>
            <a:r>
              <a:rPr lang="en-US" sz="1400" dirty="0" b="1">
                <a:solidFill>
                  <a:srgbClr val="102C57"/>
                </a:solidFill>
                <a:latin typeface="Noto Sans SC" pitchFamily="34" charset="0"/>
                <a:ea typeface="Noto Sans SC" pitchFamily="34" charset="-122"/>
                <a:cs typeface="Noto Sans SC" pitchFamily="34" charset="-120"/>
              </a:rPr>
              <a:t>表  </a:t>
            </a:r>
            <a:r>
              <a:rPr lang="en-US" sz="1400" dirty="0" b="0">
                <a:solidFill>
                  <a:srgbClr val="404040"/>
                </a:solidFill>
                <a:latin typeface="Noto Sans SC" pitchFamily="34" charset="0"/>
                <a:ea typeface="Noto Sans SC" pitchFamily="34" charset="-122"/>
                <a:cs typeface="Noto Sans SC" pitchFamily="34" charset="-120"/>
              </a:rPr>
              <a:t>Table 1–18：数据概况、互动 / 投票 / 论证统计、社区与 URL、6 次指令变更（E1–E6）前后对比、毒性与泄露模式</a:t>
            </a:r>
          </a:p>
        </p:txBody>
      </p:sp>
      <p:sp>
        <p:nvSpPr>
          <p:cNvPr id="12" name="Text 10"/>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3" name="Text 11"/>
          <p:cNvSpPr/>
          <p:nvPr/>
        </p:nvSpPr>
        <p:spPr>
          <a:xfrm>
            <a:off x="753466" y="6187653"/>
            <a:ext cx="1933042" cy="245974"/>
          </a:xfrm>
          <a:prstGeom prst="rect">
            <a:avLst/>
          </a:prstGeom>
          <a:noFill/>
          <a:ln/>
        </p:spPr>
        <p:txBody>
          <a:bodyPr wrap="square" lIns="91440" tIns="45720" rIns="91440" bIns="45720" rtlCol="0" anchor="t"/>
          <a:lstStyle/>
          <a:p>
            <a:pPr indent="0" marL="0">
              <a:buNone/>
            </a:pPr>
            <a:r>
              <a:rPr lang="en-US" sz="1000" b="1" dirty="0">
                <a:solidFill>
                  <a:srgbClr val="404040"/>
                </a:solidFill>
                <a:latin typeface="Noto Sans SC" pitchFamily="34" charset="0"/>
                <a:ea typeface="Noto Sans SC" pitchFamily="34" charset="-122"/>
                <a:cs typeface="Noto Sans SC" pitchFamily="34" charset="-120"/>
              </a:rPr>
              <a:t>论文</a:t>
            </a:r>
            <a:r>
              <a:rPr lang="en-US" sz="1000" dirty="0">
                <a:solidFill>
                  <a:srgbClr val="404040"/>
                </a:solidFill>
                <a:latin typeface="Noto Sans SC" pitchFamily="34" charset="0"/>
                <a:ea typeface="Noto Sans SC" pitchFamily="34" charset="-122"/>
                <a:cs typeface="Noto Sans SC" pitchFamily="34" charset="-120"/>
              </a:rPr>
              <a:t> 研讨</a:t>
            </a:r>
            <a:endParaRPr lang="en-US" sz="1000" dirty="0"/>
          </a:p>
        </p:txBody>
      </p:sp>
      <p:sp>
        <p:nvSpPr>
          <p:cNvPr id="14" name="Shape 12"/>
          <p:cNvSpPr/>
          <p:nvPr/>
        </p:nvSpPr>
        <p:spPr>
          <a:xfrm>
            <a:off x="2034814" y="6320790"/>
            <a:ext cx="445770" cy="0"/>
          </a:xfrm>
          <a:prstGeom prst="line">
            <a:avLst/>
          </a:prstGeom>
          <a:noFill/>
          <a:ln w="12700">
            <a:solidFill>
              <a:srgbClr val="0D0D0D"/>
            </a:solidFill>
            <a:prstDash val="solid"/>
          </a:ln>
        </p:spPr>
      </p:sp>
      <p:sp>
        <p:nvSpPr>
          <p:cNvPr id="15" name="Text 13"/>
          <p:cNvSpPr/>
          <p:nvPr/>
        </p:nvSpPr>
        <p:spPr>
          <a:xfrm>
            <a:off x="2400574"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102C57"/>
                </a:solidFill>
                <a:latin typeface="Noto Sans SC" pitchFamily="34" charset="0"/>
                <a:ea typeface="Noto Sans SC" pitchFamily="34" charset="-122"/>
                <a:cs typeface="Noto Sans SC" pitchFamily="34" charset="-120"/>
              </a:rPr>
              <a:t>共 16 页</a:t>
            </a:r>
          </a:p>
        </p:txBody>
      </p:sp>
      <p:sp>
        <p:nvSpPr>
          <p:cNvPr id="16" name="Text 14"/>
          <p:cNvSpPr/>
          <p:nvPr/>
        </p:nvSpPr>
        <p:spPr>
          <a:xfrm>
            <a:off x="10515600" y="6187653"/>
            <a:ext cx="1008949" cy="245974"/>
          </a:xfrm>
          <a:prstGeom prst="rect">
            <a:avLst/>
          </a:prstGeom>
          <a:noFill/>
          <a:ln/>
        </p:spPr>
        <p:txBody>
          <a:bodyPr wrap="square" lIns="91440" tIns="45720" rIns="91440" bIns="45720" rtlCol="0" anchor="t"/>
          <a:lstStyle/>
          <a:p>
            <a:pPr algn="r" indent="0" marL="0">
              <a:buNone/>
            </a:pPr>
            <a:r>
              <a:rPr lang="en-US" sz="1000" b="1" dirty="0">
                <a:solidFill>
                  <a:srgbClr val="262626"/>
                </a:solidFill>
                <a:latin typeface="Noto Sans SC" pitchFamily="34" charset="0"/>
                <a:ea typeface="Noto Sans SC" pitchFamily="34" charset="-122"/>
                <a:cs typeface="Noto Sans SC" pitchFamily="34" charset="-120"/>
              </a:rPr>
              <a:t>第 </a:t>
            </a:r>
            <a:r>
              <a:rPr lang="en-US" sz="1000" dirty="0">
                <a:solidFill>
                  <a:srgbClr val="262626"/>
                </a:solidFill>
                <a:latin typeface="Noto Sans SC" pitchFamily="34" charset="0"/>
                <a:ea typeface="Noto Sans SC" pitchFamily="34" charset="-122"/>
                <a:cs typeface="Noto Sans SC" pitchFamily="34" charset="-120"/>
              </a:rPr>
              <a:t>10/16</a:t>
            </a:r>
            <a:endParaRPr lang="en-US" sz="1000" dirty="0"/>
          </a:p>
        </p:txBody>
      </p:sp>
      <p:sp>
        <p:nvSpPr>
          <p:cNvPr id="30" name="Heading"/>
          <p:cNvSpPr/>
          <p:nvPr/>
        </p:nvSpPr>
        <p:spPr>
          <a:xfrm>
            <a:off x="718718" y="777240"/>
            <a:ext cx="4937760" cy="640080"/>
          </a:xfrm>
          <a:prstGeom prst="rect">
            <a:avLst/>
          </a:prstGeom>
          <a:noFill/>
          <a:ln/>
        </p:spPr>
        <p:txBody>
          <a:bodyPr wrap="square" lIns="91440" tIns="45720" rIns="91440" bIns="45720" rtlCol="0" anchor="t"/>
          <a:lstStyle/>
          <a:p>
            <a:pPr algn="l" indent="0" marL="0">
              <a:lnSpc>
                <a:spcPct val="100000"/>
              </a:lnSpc>
              <a:buNone/>
            </a:pPr>
            <a:r>
              <a:rPr lang="en-US" sz="3000" dirty="0" b="0">
                <a:solidFill>
                  <a:srgbClr val="0D0D0D"/>
                </a:solidFill>
                <a:latin typeface="Noto Sans SC" pitchFamily="34" charset="0"/>
                <a:ea typeface="Noto Sans SC" pitchFamily="34" charset="-122"/>
                <a:cs typeface="Noto Sans SC" pitchFamily="34" charset="-120"/>
              </a:rPr>
              <a:t>P3 方法细节：图与公式</a:t>
            </a:r>
          </a:p>
        </p:txBody>
      </p:sp>
      <p:sp>
        <p:nvSpPr>
          <p:cNvPr id="40" name="Formula label"/>
          <p:cNvSpPr/>
          <p:nvPr/>
        </p:nvSpPr>
        <p:spPr>
          <a:xfrm>
            <a:off x="6035040" y="1051560"/>
            <a:ext cx="530352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所用指标（* 为补充的标准定义）</a:t>
            </a:r>
          </a:p>
        </p:txBody>
      </p:sp>
      <p:pic>
        <p:nvPicPr>
          <p:cNvPr id="50" name="Formula 1" descr="formula p3eq1"/>
          <p:cNvPicPr>
            <a:picLocks noChangeAspect="1"/>
          </p:cNvPicPr>
          <p:nvPr/>
        </p:nvPicPr>
        <p:blipFill>
          <a:blip r:embed="rIdG4p3eq1"/>
          <a:stretch>
            <a:fillRect/>
          </a:stretch>
        </p:blipFill>
        <p:spPr>
          <a:xfrm>
            <a:off x="6035040" y="1621904"/>
            <a:ext cx="2331720" cy="459511"/>
          </a:xfrm>
          <a:prstGeom prst="rect">
            <a:avLst/>
          </a:prstGeom>
        </p:spPr>
      </p:pic>
      <p:sp>
        <p:nvSpPr>
          <p:cNvPr id="60" name="Formula caption 1"/>
          <p:cNvSpPr/>
          <p:nvPr/>
        </p:nvSpPr>
        <p:spPr>
          <a:xfrm>
            <a:off x="8503920" y="1463040"/>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互惠率*：反向边也存在的有向对占比；论文 3.3%（1,151,825 个有向对中 18,855 对互惠）</a:t>
            </a:r>
          </a:p>
        </p:txBody>
      </p:sp>
      <p:pic>
        <p:nvPicPr>
          <p:cNvPr id="51" name="Formula 2" descr="formula p3eq2"/>
          <p:cNvPicPr>
            <a:picLocks noChangeAspect="1"/>
          </p:cNvPicPr>
          <p:nvPr/>
        </p:nvPicPr>
        <p:blipFill>
          <a:blip r:embed="rIdG4p3eq2"/>
          <a:stretch>
            <a:fillRect/>
          </a:stretch>
        </p:blipFill>
        <p:spPr>
          <a:xfrm>
            <a:off x="6035040" y="2475646"/>
            <a:ext cx="1746869" cy="544250"/>
          </a:xfrm>
          <a:prstGeom prst="rect">
            <a:avLst/>
          </a:prstGeom>
        </p:spPr>
      </p:pic>
      <p:sp>
        <p:nvSpPr>
          <p:cNvPr id="61" name="Formula caption 2"/>
          <p:cNvSpPr/>
          <p:nvPr/>
        </p:nvSpPr>
        <p:spPr>
          <a:xfrm>
            <a:off x="8503920" y="2359152"/>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Jaccard*（unigram）：bio–帖子 2.3%，评论–帖子 3.2%</a:t>
            </a:r>
          </a:p>
        </p:txBody>
      </p:sp>
      <p:pic>
        <p:nvPicPr>
          <p:cNvPr id="52" name="Formula 3" descr="formula p3eq3"/>
          <p:cNvPicPr>
            <a:picLocks noChangeAspect="1"/>
          </p:cNvPicPr>
          <p:nvPr/>
        </p:nvPicPr>
        <p:blipFill>
          <a:blip r:embed="rIdG4p3eq3"/>
          <a:stretch>
            <a:fillRect/>
          </a:stretch>
        </p:blipFill>
        <p:spPr>
          <a:xfrm>
            <a:off x="6035040" y="3338840"/>
            <a:ext cx="1799539" cy="610087"/>
          </a:xfrm>
          <a:prstGeom prst="rect">
            <a:avLst/>
          </a:prstGeom>
        </p:spPr>
      </p:pic>
      <p:sp>
        <p:nvSpPr>
          <p:cNvPr id="62" name="Formula caption 3"/>
          <p:cNvSpPr/>
          <p:nvPr/>
        </p:nvSpPr>
        <p:spPr>
          <a:xfrm>
            <a:off x="8503920" y="3255264"/>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Shannon 熵*（13 类主题）：H &lt; 1.0 聚焦，H ≥ 2.0 为“大杂烩”</a:t>
            </a:r>
          </a:p>
        </p:txBody>
      </p:sp>
      <p:pic>
        <p:nvPicPr>
          <p:cNvPr id="53" name="Formula 4" descr="formula p3eq4"/>
          <p:cNvPicPr>
            <a:picLocks noChangeAspect="1"/>
          </p:cNvPicPr>
          <p:nvPr/>
        </p:nvPicPr>
        <p:blipFill>
          <a:blip r:embed="rIdG4p3eq4"/>
          <a:stretch>
            <a:fillRect/>
          </a:stretch>
        </p:blipFill>
        <p:spPr>
          <a:xfrm>
            <a:off x="6035040" y="4158142"/>
            <a:ext cx="1850014" cy="763706"/>
          </a:xfrm>
          <a:prstGeom prst="rect">
            <a:avLst/>
          </a:prstGeom>
        </p:spPr>
      </p:pic>
      <p:sp>
        <p:nvSpPr>
          <p:cNvPr id="63" name="Formula caption 4"/>
          <p:cNvSpPr/>
          <p:nvPr/>
        </p:nvSpPr>
        <p:spPr>
          <a:xfrm>
            <a:off x="8503920" y="4151376"/>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Gini*：帖子点赞 0.779，karma 0.935</a:t>
            </a:r>
          </a:p>
        </p:txBody>
      </p:sp>
      <p:pic>
        <p:nvPicPr>
          <p:cNvPr id="54" name="Formula 5" descr="formula p3eq5"/>
          <p:cNvPicPr>
            <a:picLocks noChangeAspect="1"/>
          </p:cNvPicPr>
          <p:nvPr/>
        </p:nvPicPr>
        <p:blipFill>
          <a:blip r:embed="rIdG4p3eq5"/>
          <a:stretch>
            <a:fillRect/>
          </a:stretch>
        </p:blipFill>
        <p:spPr>
          <a:xfrm>
            <a:off x="6035040" y="5173858"/>
            <a:ext cx="1577888" cy="524499"/>
          </a:xfrm>
          <a:prstGeom prst="rect">
            <a:avLst/>
          </a:prstGeom>
        </p:spPr>
      </p:pic>
      <p:sp>
        <p:nvSpPr>
          <p:cNvPr id="64" name="Formula caption 5"/>
          <p:cNvSpPr/>
          <p:nvPr/>
        </p:nvSpPr>
        <p:spPr>
          <a:xfrm>
            <a:off x="8503920" y="5047488"/>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前后对比*：指令变更前后各 7 天窗口（E6 后仅 4 天）</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227625" cy="6858000"/>
          </a:xfrm>
          <a:prstGeom prst="rect">
            <a:avLst/>
          </a:prstGeom>
          <a:ln/>
        </p:spPr>
      </p:sp>
      <p:sp>
        <p:nvSpPr>
          <p:cNvPr id="3" name="Text 1"/>
          <p:cNvSpPr/>
          <p:nvPr/>
        </p:nvSpPr>
        <p:spPr>
          <a:xfrm>
            <a:off x="6437376" y="914400"/>
            <a:ext cx="5120640" cy="777240"/>
          </a:xfrm>
          <a:prstGeom prst="rect">
            <a:avLst/>
          </a:prstGeom>
          <a:noFill/>
          <a:ln/>
        </p:spPr>
        <p:txBody>
          <a:bodyPr wrap="square" lIns="91440" tIns="45720" rIns="91440" bIns="45720" rtlCol="0" anchor="t"/>
          <a:lstStyle/>
          <a:p>
            <a:pPr algn="l" indent="0" marL="0">
              <a:lnSpc>
                <a:spcPct val="100000"/>
              </a:lnSpc>
              <a:buNone/>
            </a:pPr>
            <a:r>
              <a:rPr lang="en-US" sz="4000" dirty="0" b="0">
                <a:solidFill>
                  <a:srgbClr val="0D0D0D"/>
                </a:solidFill>
                <a:latin typeface="Noto Sans SC" pitchFamily="34" charset="0"/>
                <a:ea typeface="Noto Sans SC" pitchFamily="34" charset="-122"/>
                <a:cs typeface="Noto Sans SC" pitchFamily="34" charset="-120"/>
              </a:rPr>
              <a:t>研究问题与方法</a:t>
            </a:r>
          </a:p>
        </p:txBody>
      </p:sp>
      <p:sp>
        <p:nvSpPr>
          <p:cNvPr id="4" name="Text 2"/>
          <p:cNvSpPr/>
          <p:nvPr/>
        </p:nvSpPr>
        <p:spPr>
          <a:xfrm>
            <a:off x="6473952" y="2112264"/>
            <a:ext cx="5029200" cy="6858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404040"/>
                </a:solidFill>
                <a:latin typeface="Noto Sans SC" pitchFamily="34" charset="0"/>
                <a:ea typeface="Noto Sans SC" pitchFamily="34" charset="-122"/>
                <a:cs typeface="Noto Sans SC" pitchFamily="34" charset="-120"/>
              </a:rPr>
              <a:t>把基于智能体的建模（ABM）与 LLM 结合，能否逼真地模拟社交媒体（X）网络？</a:t>
            </a:r>
          </a:p>
        </p:txBody>
      </p:sp>
      <p:sp>
        <p:nvSpPr>
          <p:cNvPr id="5" name="Shape 3"/>
          <p:cNvSpPr/>
          <p:nvPr/>
        </p:nvSpPr>
        <p:spPr>
          <a:xfrm>
            <a:off x="6510528" y="1783080"/>
            <a:ext cx="4983480" cy="0"/>
          </a:xfrm>
          <a:prstGeom prst="line">
            <a:avLst/>
          </a:prstGeom>
          <a:noFill/>
          <a:ln w="9525">
            <a:solidFill>
              <a:srgbClr val="808080"/>
            </a:solidFill>
            <a:prstDash val="solid"/>
          </a:ln>
        </p:spPr>
      </p:sp>
      <p:sp>
        <p:nvSpPr>
          <p:cNvPr id="6" name="Text 4"/>
          <p:cNvSpPr/>
          <p:nvPr/>
        </p:nvSpPr>
        <p:spPr>
          <a:xfrm>
            <a:off x="6473952" y="1837943"/>
            <a:ext cx="502920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研究问题</a:t>
            </a:r>
          </a:p>
        </p:txBody>
      </p:sp>
      <p:sp>
        <p:nvSpPr>
          <p:cNvPr id="8" name="Text 6"/>
          <p:cNvSpPr/>
          <p:nvPr/>
        </p:nvSpPr>
        <p:spPr>
          <a:xfrm>
            <a:off x="718718" y="1325880"/>
            <a:ext cx="4846320" cy="4480560"/>
          </a:xfrm>
          <a:prstGeom prst="rect">
            <a:avLst/>
          </a:prstGeom>
          <a:noFill/>
          <a:ln/>
        </p:spPr>
        <p:txBody>
          <a:bodyPr wrap="square" lIns="91440" tIns="45720" rIns="91440" bIns="45720" rtlCol="0" anchor="t"/>
          <a:lstStyle/>
          <a:p>
            <a:pPr algn="l" indent="0" marL="0">
              <a:lnSpc>
                <a:spcPct val="115000"/>
              </a:lnSpc>
              <a:buNone/>
            </a:pPr>
            <a:r>
              <a:rPr lang="en-US" sz="1200" dirty="0" b="1">
                <a:solidFill>
                  <a:srgbClr val="102C57"/>
                </a:solidFill>
                <a:latin typeface="Noto Sans SC" pitchFamily="34" charset="0"/>
                <a:ea typeface="Noto Sans SC" pitchFamily="34" charset="-122"/>
                <a:cs typeface="Noto Sans SC" pitchFamily="34" charset="-120"/>
              </a:rPr>
              <a:t>PAPER 2</a:t>
            </a:r>
          </a:p>
          <a:p>
            <a:pPr algn="l" indent="0" marL="0">
              <a:lnSpc>
                <a:spcPct val="115000"/>
              </a:lnSpc>
              <a:spcBef>
                <a:spcPts val="800"/>
              </a:spcBef>
              <a:buNone/>
            </a:pPr>
            <a:r>
              <a:rPr lang="en-US" sz="2400" dirty="0" b="0">
                <a:solidFill>
                  <a:srgbClr val="0D0D0D"/>
                </a:solidFill>
                <a:latin typeface="Noto Sans SC" pitchFamily="34" charset="0"/>
                <a:ea typeface="Noto Sans SC" pitchFamily="34" charset="-122"/>
                <a:cs typeface="Noto Sans SC" pitchFamily="34" charset="-120"/>
              </a:rPr>
              <a:t>Are LLM-Powered Social Media Bots Realistic?</a:t>
            </a:r>
          </a:p>
          <a:p>
            <a:pPr algn="l" indent="0" marL="0">
              <a:lnSpc>
                <a:spcPct val="115000"/>
              </a:lnSpc>
              <a:spcBef>
                <a:spcPts val="1400"/>
              </a:spcBef>
              <a:buNone/>
            </a:pPr>
            <a:r>
              <a:rPr lang="en-US" sz="1400" dirty="0" b="0">
                <a:solidFill>
                  <a:srgbClr val="404040"/>
                </a:solidFill>
                <a:latin typeface="Noto Sans SC" pitchFamily="34" charset="0"/>
                <a:ea typeface="Noto Sans SC" pitchFamily="34" charset="-122"/>
                <a:cs typeface="Noto Sans SC" pitchFamily="34" charset="-120"/>
              </a:rPr>
              <a:t>Lynnette Hui Xian Ng, Kathleen M. Carley</a:t>
            </a:r>
          </a:p>
          <a:p>
            <a:pPr algn="l" indent="0" marL="0">
              <a:lnSpc>
                <a:spcPct val="115000"/>
              </a:lnSpc>
              <a:spcBef>
                <a:spcPts val="400"/>
              </a:spcBef>
              <a:buNone/>
            </a:pPr>
            <a:r>
              <a:rPr lang="en-US" sz="1400" dirty="0" b="0">
                <a:solidFill>
                  <a:srgbClr val="404040"/>
                </a:solidFill>
                <a:latin typeface="Noto Sans SC" pitchFamily="34" charset="0"/>
                <a:ea typeface="Noto Sans SC" pitchFamily="34" charset="-122"/>
                <a:cs typeface="Noto Sans SC" pitchFamily="34" charset="-120"/>
              </a:rPr>
              <a:t>Carnegie Mellon University</a:t>
            </a:r>
          </a:p>
          <a:p>
            <a:pPr algn="l" indent="0" marL="0">
              <a:lnSpc>
                <a:spcPct val="115000"/>
              </a:lnSpc>
              <a:spcBef>
                <a:spcPts val="400"/>
              </a:spcBef>
              <a:buNone/>
            </a:pPr>
            <a:r>
              <a:rPr lang="en-US" sz="1400" dirty="0" b="0">
                <a:solidFill>
                  <a:srgbClr val="595959"/>
                </a:solidFill>
                <a:latin typeface="Noto Sans SC" pitchFamily="34" charset="0"/>
                <a:ea typeface="Noto Sans SC" pitchFamily="34" charset="-122"/>
                <a:cs typeface="Noto Sans SC" pitchFamily="34" charset="-120"/>
              </a:rPr>
              <a:t>SBP-BRiMS 2025, LNCS 16127, pp. 14–23（已发表）</a:t>
            </a:r>
          </a:p>
        </p:txBody>
      </p:sp>
      <p:sp>
        <p:nvSpPr>
          <p:cNvPr id="9" name="Shape 7"/>
          <p:cNvSpPr/>
          <p:nvPr/>
        </p:nvSpPr>
        <p:spPr>
          <a:xfrm>
            <a:off x="6510528" y="2743200"/>
            <a:ext cx="4983480" cy="0"/>
          </a:xfrm>
          <a:prstGeom prst="line">
            <a:avLst/>
          </a:prstGeom>
          <a:noFill/>
          <a:ln w="9525">
            <a:solidFill>
              <a:srgbClr val="808080"/>
            </a:solidFill>
            <a:prstDash val="solid"/>
          </a:ln>
        </p:spPr>
      </p:sp>
      <p:sp>
        <p:nvSpPr>
          <p:cNvPr id="10" name="Text 8"/>
          <p:cNvSpPr/>
          <p:nvPr/>
        </p:nvSpPr>
        <p:spPr>
          <a:xfrm>
            <a:off x="6473952" y="2798064"/>
            <a:ext cx="502920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两步生成 · SynSM 引擎，GPT-4.1-mini，temperature = 0</a:t>
            </a:r>
          </a:p>
        </p:txBody>
      </p:sp>
      <p:sp>
        <p:nvSpPr>
          <p:cNvPr id="12" name="Text 10"/>
          <p:cNvSpPr/>
          <p:nvPr/>
        </p:nvSpPr>
        <p:spPr>
          <a:xfrm>
            <a:off x="6473952" y="3072384"/>
            <a:ext cx="5029200" cy="132588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404040"/>
                </a:solidFill>
                <a:latin typeface="Noto Sans SC" pitchFamily="34" charset="0"/>
                <a:ea typeface="Noto Sans SC" pitchFamily="34" charset="-122"/>
                <a:cs typeface="Noto Sans SC" pitchFamily="34" charset="-120"/>
              </a:rPr>
              <a:t>① 人设构建：围绕虚构事件 AuraSight 手工写 169 个智能体人设（社区、叙事、立场、发帖与互动次数），再由 LLM 扩展。② 推文生成：用优先连接（PA）选互动对象，LLM 按人设写原创、回复等内容。</a:t>
            </a:r>
          </a:p>
        </p:txBody>
      </p:sp>
      <p:sp>
        <p:nvSpPr>
          <p:cNvPr id="13" name="Text 11"/>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4" name="Text 12"/>
          <p:cNvSpPr/>
          <p:nvPr/>
        </p:nvSpPr>
        <p:spPr>
          <a:xfrm>
            <a:off x="753466" y="6187653"/>
            <a:ext cx="1933042" cy="245974"/>
          </a:xfrm>
          <a:prstGeom prst="rect">
            <a:avLst/>
          </a:prstGeom>
          <a:noFill/>
          <a:ln/>
        </p:spPr>
        <p:txBody>
          <a:bodyPr wrap="square" lIns="91440" tIns="45720" rIns="91440" bIns="45720" rtlCol="0" anchor="t"/>
          <a:lstStyle/>
          <a:p>
            <a:pPr indent="0" marL="0">
              <a:buNone/>
            </a:pPr>
            <a:r>
              <a:rPr lang="en-US" sz="1000" b="1" dirty="0">
                <a:solidFill>
                  <a:srgbClr val="262626"/>
                </a:solidFill>
                <a:latin typeface="Noto Sans SC" pitchFamily="34" charset="0"/>
                <a:ea typeface="Noto Sans SC" pitchFamily="34" charset="-122"/>
                <a:cs typeface="Noto Sans SC" pitchFamily="34" charset="-120"/>
              </a:rPr>
              <a:t>论文</a:t>
            </a:r>
            <a:r>
              <a:rPr lang="en-US" sz="1000" dirty="0">
                <a:solidFill>
                  <a:srgbClr val="262626"/>
                </a:solidFill>
                <a:latin typeface="Noto Sans SC" pitchFamily="34" charset="0"/>
                <a:ea typeface="Noto Sans SC" pitchFamily="34" charset="-122"/>
                <a:cs typeface="Noto Sans SC" pitchFamily="34" charset="-120"/>
              </a:rPr>
              <a:t> 研讨</a:t>
            </a:r>
            <a:endParaRPr lang="en-US" sz="1000" dirty="0"/>
          </a:p>
        </p:txBody>
      </p:sp>
      <p:sp>
        <p:nvSpPr>
          <p:cNvPr id="15" name="Shape 13"/>
          <p:cNvSpPr/>
          <p:nvPr/>
        </p:nvSpPr>
        <p:spPr>
          <a:xfrm>
            <a:off x="2034814" y="6320790"/>
            <a:ext cx="445770" cy="0"/>
          </a:xfrm>
          <a:prstGeom prst="line">
            <a:avLst/>
          </a:prstGeom>
          <a:noFill/>
          <a:ln w="12700">
            <a:solidFill>
              <a:srgbClr val="BFBFBF"/>
            </a:solidFill>
            <a:prstDash val="solid"/>
          </a:ln>
        </p:spPr>
      </p:sp>
      <p:sp>
        <p:nvSpPr>
          <p:cNvPr id="16" name="Text 14"/>
          <p:cNvSpPr/>
          <p:nvPr/>
        </p:nvSpPr>
        <p:spPr>
          <a:xfrm>
            <a:off x="2400574"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262626"/>
                </a:solidFill>
                <a:latin typeface="Noto Sans SC" pitchFamily="34" charset="0"/>
                <a:ea typeface="Noto Sans SC" pitchFamily="34" charset="-122"/>
                <a:cs typeface="Noto Sans SC" pitchFamily="34" charset="-120"/>
              </a:rPr>
              <a:t>共 16 页</a:t>
            </a:r>
          </a:p>
        </p:txBody>
      </p:sp>
      <p:sp>
        <p:nvSpPr>
          <p:cNvPr id="17" name="Text 15"/>
          <p:cNvSpPr/>
          <p:nvPr/>
        </p:nvSpPr>
        <p:spPr>
          <a:xfrm>
            <a:off x="10515600" y="6187653"/>
            <a:ext cx="1008949" cy="245974"/>
          </a:xfrm>
          <a:prstGeom prst="rect">
            <a:avLst/>
          </a:prstGeom>
          <a:noFill/>
          <a:ln/>
        </p:spPr>
        <p:txBody>
          <a:bodyPr wrap="square" lIns="91440" tIns="45720" rIns="91440" bIns="45720" rtlCol="0" anchor="t"/>
          <a:lstStyle/>
          <a:p>
            <a:pPr algn="r" indent="0" marL="0">
              <a:buNone/>
            </a:pPr>
            <a:r>
              <a:rPr lang="en-US" sz="1000" b="1" dirty="0">
                <a:solidFill>
                  <a:srgbClr val="102C57"/>
                </a:solidFill>
                <a:latin typeface="Noto Sans SC" pitchFamily="34" charset="0"/>
                <a:ea typeface="Noto Sans SC" pitchFamily="34" charset="-122"/>
                <a:cs typeface="Noto Sans SC" pitchFamily="34" charset="-120"/>
              </a:rPr>
              <a:t>第</a:t>
            </a:r>
            <a:r>
              <a:rPr lang="en-US" sz="1000" b="1" dirty="0">
                <a:solidFill>
                  <a:srgbClr val="808080"/>
                </a:solidFill>
                <a:latin typeface="Noto Sans SC" pitchFamily="34" charset="0"/>
                <a:ea typeface="Noto Sans SC" pitchFamily="34" charset="-122"/>
                <a:cs typeface="Noto Sans SC" pitchFamily="34" charset="-120"/>
              </a:rPr>
              <a:t> </a:t>
            </a:r>
            <a:r>
              <a:rPr lang="en-US" sz="1000" dirty="0">
                <a:solidFill>
                  <a:srgbClr val="808080"/>
                </a:solidFill>
                <a:latin typeface="Noto Sans SC" pitchFamily="34" charset="0"/>
                <a:ea typeface="Noto Sans SC" pitchFamily="34" charset="-122"/>
                <a:cs typeface="Noto Sans SC" pitchFamily="34" charset="-120"/>
              </a:rPr>
              <a:t>13/16</a:t>
            </a:r>
            <a:endParaRPr lang="en-US" sz="1000" dirty="0"/>
          </a:p>
        </p:txBody>
      </p:sp>
      <p:sp>
        <p:nvSpPr>
          <p:cNvPr id="30" name="Hairline 3"/>
          <p:cNvSpPr/>
          <p:nvPr/>
        </p:nvSpPr>
        <p:spPr>
          <a:xfrm>
            <a:off x="6510528" y="4343400"/>
            <a:ext cx="4983480" cy="0"/>
          </a:xfrm>
          <a:prstGeom prst="line">
            <a:avLst/>
          </a:prstGeom>
          <a:noFill/>
          <a:ln w="9525">
            <a:solidFill>
              <a:srgbClr val="808080"/>
            </a:solidFill>
            <a:prstDash val="solid"/>
          </a:ln>
        </p:spPr>
      </p:sp>
      <p:sp>
        <p:nvSpPr>
          <p:cNvPr id="31" name="Label 3"/>
          <p:cNvSpPr/>
          <p:nvPr/>
        </p:nvSpPr>
        <p:spPr>
          <a:xfrm>
            <a:off x="6473952" y="4398264"/>
            <a:ext cx="502920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评估</a:t>
            </a:r>
          </a:p>
        </p:txBody>
      </p:sp>
      <p:sp>
        <p:nvSpPr>
          <p:cNvPr id="32" name="Row text 3"/>
          <p:cNvSpPr/>
          <p:nvPr/>
        </p:nvSpPr>
        <p:spPr>
          <a:xfrm>
            <a:off x="6473952" y="4672584"/>
            <a:ext cx="5029200" cy="13716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404040"/>
                </a:solidFill>
                <a:latin typeface="Noto Sans SC" pitchFamily="34" charset="0"/>
                <a:ea typeface="Noto Sans SC" pitchFamily="34" charset="-122"/>
                <a:cs typeface="Noto Sans SC" pitchFamily="34" charset="-120"/>
              </a:rPr>
              <a:t>得到 45,745 个智能体、77,037 条推文；用 Tiny-BotBuster 测机器人相似度，并与约 2 亿 X 用户、约 50 亿条推文的 Wild Bots / Wild Humans 比较网络与语言线索；再改变 PA 比例和提示词做对照。</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42716" y="0"/>
            <a:ext cx="8749894" cy="6858000"/>
          </a:xfrm>
          <a:prstGeom prst="rect">
            <a:avLst/>
          </a:prstGeom>
          <a:ln/>
        </p:spPr>
      </p:sp>
      <p:sp>
        <p:nvSpPr>
          <p:cNvPr id="3" name="Shape 1"/>
          <p:cNvSpPr/>
          <p:nvPr/>
        </p:nvSpPr>
        <p:spPr>
          <a:xfrm>
            <a:off x="3749039" y="3200400"/>
            <a:ext cx="7818120" cy="2468880"/>
          </a:xfrm>
          <a:prstGeom prst="rect">
            <a:avLst/>
          </a:prstGeom>
          <a:solidFill>
            <a:srgbClr val="F5F5F5"/>
          </a:solidFill>
          <a:ln w="9525">
            <a:solidFill>
              <a:srgbClr val="D9D9D9"/>
            </a:solidFill>
          </a:ln>
        </p:spPr>
      </p:sp>
      <p:sp>
        <p:nvSpPr>
          <p:cNvPr id="4" name="Text 2"/>
          <p:cNvSpPr/>
          <p:nvPr/>
        </p:nvSpPr>
        <p:spPr>
          <a:xfrm>
            <a:off x="535838" y="1691640"/>
            <a:ext cx="2926080" cy="1463040"/>
          </a:xfrm>
          <a:prstGeom prst="rect">
            <a:avLst/>
          </a:prstGeom>
          <a:noFill/>
          <a:ln/>
        </p:spPr>
        <p:txBody>
          <a:bodyPr wrap="square" lIns="91440" tIns="45720" rIns="91440" bIns="45720" rtlCol="0" anchor="t"/>
          <a:lstStyle/>
          <a:p>
            <a:pPr algn="l" indent="0" marL="0">
              <a:lnSpc>
                <a:spcPct val="125000"/>
              </a:lnSpc>
              <a:buNone/>
            </a:pPr>
            <a:r>
              <a:rPr lang="en-US" sz="1400" dirty="0" b="0">
                <a:solidFill>
                  <a:srgbClr val="404040"/>
                </a:solidFill>
                <a:latin typeface="Noto Sans SC" pitchFamily="34" charset="0"/>
                <a:ea typeface="Noto Sans SC" pitchFamily="34" charset="-122"/>
                <a:cs typeface="Noto Sans SC" pitchFamily="34" charset="-120"/>
              </a:rPr>
              <a:t>全通信图呈星形、社区分明，像 Wild Bot 的 ego 网络，但密度和平均度与真实网络不同；放宽 PA 后结构更接近真实。</a:t>
            </a:r>
          </a:p>
        </p:txBody>
      </p:sp>
      <p:sp>
        <p:nvSpPr>
          <p:cNvPr id="5" name="Shape 3"/>
          <p:cNvSpPr/>
          <p:nvPr/>
        </p:nvSpPr>
        <p:spPr>
          <a:xfrm>
            <a:off x="646480" y="3246120"/>
            <a:ext cx="2651760" cy="0"/>
          </a:xfrm>
          <a:prstGeom prst="line">
            <a:avLst/>
          </a:prstGeom>
          <a:noFill/>
          <a:ln w="9525">
            <a:solidFill>
              <a:srgbClr val="404040"/>
            </a:solidFill>
            <a:prstDash val="solid"/>
          </a:ln>
        </p:spPr>
      </p:sp>
      <p:sp>
        <p:nvSpPr>
          <p:cNvPr id="6" name="Text 4"/>
          <p:cNvSpPr/>
          <p:nvPr/>
        </p:nvSpPr>
        <p:spPr>
          <a:xfrm>
            <a:off x="558698" y="3291840"/>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网络结构</a:t>
            </a:r>
          </a:p>
        </p:txBody>
      </p:sp>
      <p:sp>
        <p:nvSpPr>
          <p:cNvPr id="7" name="Text 5"/>
          <p:cNvSpPr/>
          <p:nvPr/>
        </p:nvSpPr>
        <p:spPr>
          <a:xfrm>
            <a:off x="535838" y="3657600"/>
            <a:ext cx="2926080" cy="1417320"/>
          </a:xfrm>
          <a:prstGeom prst="rect">
            <a:avLst/>
          </a:prstGeom>
          <a:noFill/>
          <a:ln/>
        </p:spPr>
        <p:txBody>
          <a:bodyPr wrap="square" lIns="91440" tIns="45720" rIns="91440" bIns="45720" rtlCol="0" anchor="t"/>
          <a:lstStyle/>
          <a:p>
            <a:pPr algn="l" indent="0" marL="0">
              <a:lnSpc>
                <a:spcPct val="125000"/>
              </a:lnSpc>
              <a:buNone/>
            </a:pPr>
            <a:r>
              <a:rPr lang="en-US" sz="1400" dirty="0" b="0">
                <a:solidFill>
                  <a:srgbClr val="404040"/>
                </a:solidFill>
                <a:latin typeface="Noto Sans SC" pitchFamily="34" charset="0"/>
                <a:ea typeface="Noto Sans SC" pitchFamily="34" charset="-122"/>
                <a:cs typeface="Noto Sans SC" pitchFamily="34" charset="-120"/>
              </a:rPr>
              <a:t>第一人称代词更多（1.38 vs 0.71 / 0.73），可读性更简单（0.05 vs 0.12 / 0.10），情绪词几乎为零；@ 和 URL 更少，话题标签更多。</a:t>
            </a:r>
          </a:p>
        </p:txBody>
      </p:sp>
      <p:sp>
        <p:nvSpPr>
          <p:cNvPr id="8" name="Shape 6"/>
          <p:cNvSpPr/>
          <p:nvPr/>
        </p:nvSpPr>
        <p:spPr>
          <a:xfrm>
            <a:off x="646480" y="5166360"/>
            <a:ext cx="2651760" cy="0"/>
          </a:xfrm>
          <a:prstGeom prst="line">
            <a:avLst/>
          </a:prstGeom>
          <a:noFill/>
          <a:ln w="9525">
            <a:solidFill>
              <a:srgbClr val="404040"/>
            </a:solidFill>
            <a:prstDash val="solid"/>
          </a:ln>
        </p:spPr>
      </p:sp>
      <p:sp>
        <p:nvSpPr>
          <p:cNvPr id="9" name="Text 7"/>
          <p:cNvSpPr/>
          <p:nvPr/>
        </p:nvSpPr>
        <p:spPr>
          <a:xfrm>
            <a:off x="558698" y="5212080"/>
            <a:ext cx="265176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语言线索（vs Wild Bot / Human）</a:t>
            </a:r>
          </a:p>
        </p:txBody>
      </p:sp>
      <p:sp>
        <p:nvSpPr>
          <p:cNvPr id="10" name="Text 8"/>
          <p:cNvSpPr/>
          <p:nvPr/>
        </p:nvSpPr>
        <p:spPr>
          <a:xfrm>
            <a:off x="4023360" y="3383280"/>
            <a:ext cx="7269480" cy="1371600"/>
          </a:xfrm>
          <a:prstGeom prst="rect">
            <a:avLst/>
          </a:prstGeom>
          <a:noFill/>
          <a:ln/>
        </p:spPr>
        <p:txBody>
          <a:bodyPr wrap="square" lIns="91440" tIns="45720" rIns="91440" bIns="45720" rtlCol="0" anchor="t"/>
          <a:lstStyle/>
          <a:p>
            <a:pPr algn="l" indent="0" marL="0">
              <a:lnSpc>
                <a:spcPct val="130000"/>
              </a:lnSpc>
              <a:buNone/>
            </a:pPr>
            <a:r>
              <a:rPr lang="en-US" sz="1600" dirty="0" b="0">
                <a:solidFill>
                  <a:srgbClr val="262626"/>
                </a:solidFill>
                <a:latin typeface="Noto Sans SC" pitchFamily="34" charset="0"/>
                <a:ea typeface="Noto Sans SC" pitchFamily="34" charset="-122"/>
                <a:cs typeface="Noto Sans SC" pitchFamily="34" charset="-120"/>
              </a:rPr>
              <a:t>简单生成的 LLM 机器人在语言和网络结构上都不像真实账号，依赖这些线索的检测器（如 BotBuster）会漏检；提示词写得越具体（加示例效果最好），线索越接近真实，但差距仍在。</a:t>
            </a:r>
          </a:p>
        </p:txBody>
      </p:sp>
      <p:sp>
        <p:nvSpPr>
          <p:cNvPr id="11" name="Shape 9"/>
          <p:cNvSpPr/>
          <p:nvPr/>
        </p:nvSpPr>
        <p:spPr>
          <a:xfrm>
            <a:off x="4114800" y="4846320"/>
            <a:ext cx="7086600" cy="0"/>
          </a:xfrm>
          <a:prstGeom prst="line">
            <a:avLst/>
          </a:prstGeom>
          <a:noFill/>
          <a:ln w="9525">
            <a:solidFill>
              <a:srgbClr val="BFBFBF"/>
            </a:solidFill>
            <a:prstDash val="solid"/>
          </a:ln>
        </p:spPr>
      </p:sp>
      <p:sp>
        <p:nvSpPr>
          <p:cNvPr id="12" name="Text 10"/>
          <p:cNvSpPr/>
          <p:nvPr/>
        </p:nvSpPr>
        <p:spPr>
          <a:xfrm>
            <a:off x="4023360" y="4901184"/>
            <a:ext cx="7269480" cy="64008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作者称这是初步探索，组合方案还需系统测试</a:t>
            </a:r>
          </a:p>
        </p:txBody>
      </p:sp>
      <p:sp>
        <p:nvSpPr>
          <p:cNvPr id="13" name="Text 11"/>
          <p:cNvSpPr/>
          <p:nvPr/>
        </p:nvSpPr>
        <p:spPr>
          <a:xfrm>
            <a:off x="524866"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4" name="Text 12"/>
          <p:cNvSpPr/>
          <p:nvPr/>
        </p:nvSpPr>
        <p:spPr>
          <a:xfrm>
            <a:off x="581558" y="6187653"/>
            <a:ext cx="1933042" cy="245974"/>
          </a:xfrm>
          <a:prstGeom prst="rect">
            <a:avLst/>
          </a:prstGeom>
          <a:noFill/>
          <a:ln/>
        </p:spPr>
        <p:txBody>
          <a:bodyPr wrap="square" lIns="91440" tIns="45720" rIns="91440" bIns="45720" rtlCol="0" anchor="t"/>
          <a:lstStyle/>
          <a:p>
            <a:pPr indent="0" marL="0">
              <a:buNone/>
            </a:pPr>
            <a:r>
              <a:rPr lang="en-US" sz="1000" b="1" dirty="0">
                <a:solidFill>
                  <a:srgbClr val="404040"/>
                </a:solidFill>
                <a:latin typeface="Noto Sans SC" pitchFamily="34" charset="0"/>
                <a:ea typeface="Noto Sans SC" pitchFamily="34" charset="-122"/>
                <a:cs typeface="Noto Sans SC" pitchFamily="34" charset="-120"/>
              </a:rPr>
              <a:t>论文</a:t>
            </a:r>
            <a:r>
              <a:rPr lang="en-US" sz="1000" dirty="0">
                <a:solidFill>
                  <a:srgbClr val="404040"/>
                </a:solidFill>
                <a:latin typeface="Noto Sans SC" pitchFamily="34" charset="0"/>
                <a:ea typeface="Noto Sans SC" pitchFamily="34" charset="-122"/>
                <a:cs typeface="Noto Sans SC" pitchFamily="34" charset="-120"/>
              </a:rPr>
              <a:t> 研讨</a:t>
            </a:r>
            <a:endParaRPr lang="en-US" sz="1000" dirty="0"/>
          </a:p>
        </p:txBody>
      </p:sp>
      <p:sp>
        <p:nvSpPr>
          <p:cNvPr id="15" name="Shape 13"/>
          <p:cNvSpPr/>
          <p:nvPr/>
        </p:nvSpPr>
        <p:spPr>
          <a:xfrm>
            <a:off x="1862907" y="6320790"/>
            <a:ext cx="445770" cy="0"/>
          </a:xfrm>
          <a:prstGeom prst="line">
            <a:avLst/>
          </a:prstGeom>
          <a:noFill/>
          <a:ln w="12700">
            <a:solidFill>
              <a:srgbClr val="0D0D0D"/>
            </a:solidFill>
            <a:prstDash val="solid"/>
          </a:ln>
        </p:spPr>
      </p:sp>
      <p:sp>
        <p:nvSpPr>
          <p:cNvPr id="16" name="Text 14"/>
          <p:cNvSpPr/>
          <p:nvPr/>
        </p:nvSpPr>
        <p:spPr>
          <a:xfrm>
            <a:off x="2228667"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102C57"/>
                </a:solidFill>
                <a:latin typeface="Noto Sans SC" pitchFamily="34" charset="0"/>
                <a:ea typeface="Noto Sans SC" pitchFamily="34" charset="-122"/>
                <a:cs typeface="Noto Sans SC" pitchFamily="34" charset="-120"/>
              </a:rPr>
              <a:t>共 16 页</a:t>
            </a:r>
          </a:p>
        </p:txBody>
      </p:sp>
      <p:sp>
        <p:nvSpPr>
          <p:cNvPr id="17" name="Text 15"/>
          <p:cNvSpPr/>
          <p:nvPr/>
        </p:nvSpPr>
        <p:spPr>
          <a:xfrm>
            <a:off x="10629900" y="6267298"/>
            <a:ext cx="1008949" cy="245974"/>
          </a:xfrm>
          <a:prstGeom prst="rect">
            <a:avLst/>
          </a:prstGeom>
          <a:noFill/>
          <a:ln/>
        </p:spPr>
        <p:txBody>
          <a:bodyPr wrap="square" lIns="91440" tIns="45720" rIns="91440" bIns="45720" rtlCol="0" anchor="t"/>
          <a:lstStyle/>
          <a:p>
            <a:pPr algn="r" indent="0" marL="0">
              <a:buNone/>
            </a:pPr>
            <a:r>
              <a:rPr lang="en-US" sz="1000" b="1" dirty="0">
                <a:solidFill>
                  <a:srgbClr val="404040"/>
                </a:solidFill>
                <a:latin typeface="Noto Sans SC" pitchFamily="34" charset="0"/>
                <a:ea typeface="Noto Sans SC" pitchFamily="34" charset="-122"/>
                <a:cs typeface="Noto Sans SC" pitchFamily="34" charset="-120"/>
              </a:rPr>
              <a:t>第 </a:t>
            </a:r>
            <a:r>
              <a:rPr lang="en-US" sz="1000" dirty="0">
                <a:solidFill>
                  <a:srgbClr val="404040"/>
                </a:solidFill>
                <a:latin typeface="Noto Sans SC" pitchFamily="34" charset="0"/>
                <a:ea typeface="Noto Sans SC" pitchFamily="34" charset="-122"/>
                <a:cs typeface="Noto Sans SC" pitchFamily="34" charset="-120"/>
              </a:rPr>
              <a:t>14/16</a:t>
            </a:r>
            <a:endParaRPr lang="en-US" sz="1000" dirty="0"/>
          </a:p>
        </p:txBody>
      </p:sp>
      <p:sp>
        <p:nvSpPr>
          <p:cNvPr id="30" name="Heading"/>
          <p:cNvSpPr/>
          <p:nvPr/>
        </p:nvSpPr>
        <p:spPr>
          <a:xfrm>
            <a:off x="535838" y="777240"/>
            <a:ext cx="10972800" cy="685800"/>
          </a:xfrm>
          <a:prstGeom prst="rect">
            <a:avLst/>
          </a:prstGeom>
          <a:noFill/>
          <a:ln/>
        </p:spPr>
        <p:txBody>
          <a:bodyPr wrap="square" lIns="91440" tIns="45720" rIns="91440" bIns="45720" rtlCol="0" anchor="t"/>
          <a:lstStyle/>
          <a:p>
            <a:pPr algn="l" indent="0" marL="0">
              <a:lnSpc>
                <a:spcPct val="100000"/>
              </a:lnSpc>
              <a:buNone/>
            </a:pPr>
            <a:r>
              <a:rPr lang="en-US" sz="3200" dirty="0" b="0">
                <a:solidFill>
                  <a:srgbClr val="0D0D0D"/>
                </a:solidFill>
                <a:latin typeface="Noto Sans SC" pitchFamily="34" charset="0"/>
                <a:ea typeface="Noto Sans SC" pitchFamily="34" charset="-122"/>
                <a:cs typeface="Noto Sans SC" pitchFamily="34" charset="-120"/>
              </a:rPr>
              <a:t>P2 结论：LLM 机器人还不够“真”</a:t>
            </a:r>
          </a:p>
        </p:txBody>
      </p:sp>
      <p:sp>
        <p:nvSpPr>
          <p:cNvPr id="31" name="Stat 1"/>
          <p:cNvSpPr/>
          <p:nvPr/>
        </p:nvSpPr>
        <p:spPr>
          <a:xfrm>
            <a:off x="3749039" y="1691640"/>
            <a:ext cx="1920240" cy="640080"/>
          </a:xfrm>
          <a:prstGeom prst="rect">
            <a:avLst/>
          </a:prstGeom>
          <a:noFill/>
          <a:ln/>
        </p:spPr>
        <p:txBody>
          <a:bodyPr wrap="square" lIns="91440" tIns="45720" rIns="91440" bIns="45720" rtlCol="0" anchor="t"/>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45,745</a:t>
            </a:r>
          </a:p>
        </p:txBody>
      </p:sp>
      <p:sp>
        <p:nvSpPr>
          <p:cNvPr id="35" name="Stat label 1"/>
          <p:cNvSpPr/>
          <p:nvPr/>
        </p:nvSpPr>
        <p:spPr>
          <a:xfrm>
            <a:off x="3749039" y="2331720"/>
            <a:ext cx="1874519" cy="6858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生成的智能体</a:t>
            </a:r>
          </a:p>
        </p:txBody>
      </p:sp>
      <p:sp>
        <p:nvSpPr>
          <p:cNvPr id="32" name="Stat 2"/>
          <p:cNvSpPr/>
          <p:nvPr/>
        </p:nvSpPr>
        <p:spPr>
          <a:xfrm>
            <a:off x="5696712" y="1691640"/>
            <a:ext cx="1920240" cy="640080"/>
          </a:xfrm>
          <a:prstGeom prst="rect">
            <a:avLst/>
          </a:prstGeom>
          <a:noFill/>
          <a:ln/>
        </p:spPr>
        <p:txBody>
          <a:bodyPr wrap="square" lIns="91440" tIns="45720" rIns="91440" bIns="45720" rtlCol="0" anchor="t"/>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77,037</a:t>
            </a:r>
          </a:p>
        </p:txBody>
      </p:sp>
      <p:sp>
        <p:nvSpPr>
          <p:cNvPr id="36" name="Stat label 2"/>
          <p:cNvSpPr/>
          <p:nvPr/>
        </p:nvSpPr>
        <p:spPr>
          <a:xfrm>
            <a:off x="5696712" y="2331720"/>
            <a:ext cx="1874519" cy="6858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生成的推文</a:t>
            </a:r>
          </a:p>
        </p:txBody>
      </p:sp>
      <p:sp>
        <p:nvSpPr>
          <p:cNvPr id="33" name="Stat 3"/>
          <p:cNvSpPr/>
          <p:nvPr/>
        </p:nvSpPr>
        <p:spPr>
          <a:xfrm>
            <a:off x="7644383" y="1691640"/>
            <a:ext cx="1920240" cy="640080"/>
          </a:xfrm>
          <a:prstGeom prst="rect">
            <a:avLst/>
          </a:prstGeom>
          <a:noFill/>
          <a:ln/>
        </p:spPr>
        <p:txBody>
          <a:bodyPr wrap="square" lIns="91440" tIns="45720" rIns="91440" bIns="45720" rtlCol="0" anchor="t"/>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0.36</a:t>
            </a:r>
          </a:p>
        </p:txBody>
      </p:sp>
      <p:sp>
        <p:nvSpPr>
          <p:cNvPr id="37" name="Stat label 3"/>
          <p:cNvSpPr/>
          <p:nvPr/>
        </p:nvSpPr>
        <p:spPr>
          <a:xfrm>
            <a:off x="7644383" y="2331720"/>
            <a:ext cx="1874519" cy="6858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平均机器人相似度（± 0.43）</a:t>
            </a:r>
          </a:p>
        </p:txBody>
      </p:sp>
      <p:sp>
        <p:nvSpPr>
          <p:cNvPr id="34" name="Stat 4"/>
          <p:cNvSpPr/>
          <p:nvPr/>
        </p:nvSpPr>
        <p:spPr>
          <a:xfrm>
            <a:off x="9592055" y="1691640"/>
            <a:ext cx="1920240" cy="640080"/>
          </a:xfrm>
          <a:prstGeom prst="rect">
            <a:avLst/>
          </a:prstGeom>
          <a:noFill/>
          <a:ln/>
        </p:spPr>
        <p:txBody>
          <a:bodyPr wrap="square" lIns="91440" tIns="45720" rIns="91440" bIns="45720" rtlCol="0" anchor="t"/>
          <a:lstStyle/>
          <a:p>
            <a:pPr algn="l" indent="0" marL="0">
              <a:lnSpc>
                <a:spcPct val="100000"/>
              </a:lnSpc>
              <a:buNone/>
            </a:pPr>
            <a:r>
              <a:rPr lang="en-US" sz="2600" dirty="0" b="0">
                <a:solidFill>
                  <a:srgbClr val="102C57"/>
                </a:solidFill>
                <a:latin typeface="Noto Sans SC" pitchFamily="34" charset="0"/>
                <a:ea typeface="Noto Sans SC" pitchFamily="34" charset="-122"/>
                <a:cs typeface="Noto Sans SC" pitchFamily="34" charset="-120"/>
              </a:rPr>
              <a:t>~1000</a:t>
            </a:r>
          </a:p>
        </p:txBody>
      </p:sp>
      <p:sp>
        <p:nvSpPr>
          <p:cNvPr id="38" name="Stat label 4"/>
          <p:cNvSpPr/>
          <p:nvPr/>
        </p:nvSpPr>
        <p:spPr>
          <a:xfrm>
            <a:off x="9592055" y="2331720"/>
            <a:ext cx="1874519" cy="6858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每 15 分钟可生成的推文</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806440" y="914400"/>
            <a:ext cx="5715000" cy="5074920"/>
          </a:xfrm>
          <a:prstGeom prst="rect">
            <a:avLst/>
          </a:prstGeom>
          <a:solidFill>
            <a:srgbClr val="F5F5F5"/>
          </a:solidFill>
          <a:ln w="9525">
            <a:solidFill>
              <a:srgbClr val="D9D9D9"/>
            </a:solidFill>
          </a:ln>
        </p:spPr>
      </p:sp>
      <p:sp>
        <p:nvSpPr>
          <p:cNvPr id="4" name="Text 2"/>
          <p:cNvSpPr/>
          <p:nvPr/>
        </p:nvSpPr>
        <p:spPr>
          <a:xfrm>
            <a:off x="718718" y="1463040"/>
            <a:ext cx="4846320" cy="182880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595959"/>
                </a:solidFill>
                <a:latin typeface="Noto Sans SC" pitchFamily="34" charset="0"/>
                <a:ea typeface="Noto Sans SC" pitchFamily="34" charset="-122"/>
                <a:cs typeface="Noto Sans SC" pitchFamily="34" charset="-120"/>
              </a:rPr>
              <a:t>De Marzo, Marin, Garcia · University of Konstanz &amp; Complexity Science Hub · arXiv 2602.09270 预印本</a:t>
            </a:r>
          </a:p>
          <a:p>
            <a:pPr algn="l" indent="0" marL="0">
              <a:lnSpc>
                <a:spcPct val="115000"/>
              </a:lnSpc>
              <a:spcBef>
                <a:spcPts val="600"/>
              </a:spcBef>
              <a:buNone/>
            </a:pPr>
            <a:r>
              <a:rPr lang="en-US" sz="1400" dirty="0" b="0">
                <a:solidFill>
                  <a:srgbClr val="404040"/>
                </a:solidFill>
                <a:latin typeface="Noto Sans SC" pitchFamily="34" charset="0"/>
                <a:ea typeface="Noto Sans SC" pitchFamily="34" charset="-122"/>
                <a:cs typeface="Noto Sans SC" pitchFamily="34" charset="-120"/>
              </a:rPr>
              <a:t>公开 API 爬取 2026-01-27 至 10-06（当前版本）：4,189,979 帖子、19,617,496 评论、184,909 活跃智能体、33,324 个 submolt；剔除 33,578 个刷屏帖（0.8%）。</a:t>
            </a:r>
          </a:p>
        </p:txBody>
      </p:sp>
      <p:sp>
        <p:nvSpPr>
          <p:cNvPr id="5" name="Shape 3"/>
          <p:cNvSpPr/>
          <p:nvPr/>
        </p:nvSpPr>
        <p:spPr>
          <a:xfrm>
            <a:off x="822960" y="3429000"/>
            <a:ext cx="4663440" cy="0"/>
          </a:xfrm>
          <a:prstGeom prst="line">
            <a:avLst/>
          </a:prstGeom>
          <a:noFill/>
          <a:ln w="9525">
            <a:solidFill>
              <a:srgbClr val="808080"/>
            </a:solidFill>
            <a:prstDash val="solid"/>
          </a:ln>
        </p:spPr>
      </p:sp>
      <p:sp>
        <p:nvSpPr>
          <p:cNvPr id="6" name="Text 4"/>
          <p:cNvSpPr/>
          <p:nvPr/>
        </p:nvSpPr>
        <p:spPr>
          <a:xfrm>
            <a:off x="718718" y="3474720"/>
            <a:ext cx="320040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作者与数据</a:t>
            </a:r>
          </a:p>
        </p:txBody>
      </p:sp>
      <p:sp>
        <p:nvSpPr>
          <p:cNvPr id="9" name="Text 7"/>
          <p:cNvSpPr/>
          <p:nvPr/>
        </p:nvSpPr>
        <p:spPr>
          <a:xfrm>
            <a:off x="718718" y="3840480"/>
            <a:ext cx="4846320" cy="1737360"/>
          </a:xfrm>
          <a:prstGeom prst="rect">
            <a:avLst/>
          </a:prstGeom>
          <a:noFill/>
          <a:ln/>
        </p:spPr>
        <p:txBody>
          <a:bodyPr wrap="square" lIns="91440" tIns="45720" rIns="91440" bIns="45720" rtlCol="0" anchor="t"/>
          <a:lstStyle/>
          <a:p>
            <a:pPr algn="l" indent="0" marL="0">
              <a:lnSpc>
                <a:spcPct val="115000"/>
              </a:lnSpc>
              <a:buNone/>
            </a:pPr>
            <a:r>
              <a:rPr lang="en-US" sz="1400" dirty="0" b="0">
                <a:solidFill>
                  <a:srgbClr val="404040"/>
                </a:solidFill>
                <a:latin typeface="Noto Sans SC" pitchFamily="34" charset="0"/>
                <a:ea typeface="Noto Sans SC" pitchFamily="34" charset="-122"/>
                <a:cs typeface="Noto Sans SC" pitchFamily="34" charset="-120"/>
              </a:rPr>
              <a:t>沿用研究人类平台的方法：CCDF 与幂律拟合（powerlaw 包，最大似然，对比对数正态）；点赞、直接回复与讨论规模的标度关系；讨论树深度–宽度；评论的注意力衰减。树结构与时间分析只用评论 &lt; 100 的帖子。</a:t>
            </a:r>
          </a:p>
        </p:txBody>
      </p:sp>
      <p:sp>
        <p:nvSpPr>
          <p:cNvPr id="10" name="Shape 8"/>
          <p:cNvSpPr/>
          <p:nvPr/>
        </p:nvSpPr>
        <p:spPr>
          <a:xfrm>
            <a:off x="822960" y="4937760"/>
            <a:ext cx="4663440" cy="0"/>
          </a:xfrm>
          <a:prstGeom prst="line">
            <a:avLst/>
          </a:prstGeom>
          <a:noFill/>
          <a:ln w="9525">
            <a:solidFill>
              <a:srgbClr val="808080"/>
            </a:solidFill>
            <a:prstDash val="solid"/>
          </a:ln>
        </p:spPr>
      </p:sp>
      <p:sp>
        <p:nvSpPr>
          <p:cNvPr id="11" name="Text 9"/>
          <p:cNvSpPr/>
          <p:nvPr/>
        </p:nvSpPr>
        <p:spPr>
          <a:xfrm>
            <a:off x="718718" y="4983480"/>
            <a:ext cx="274320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分析方法</a:t>
            </a:r>
          </a:p>
        </p:txBody>
      </p:sp>
      <p:sp>
        <p:nvSpPr>
          <p:cNvPr id="12" name="Text 10"/>
          <p:cNvSpPr/>
          <p:nvPr/>
        </p:nvSpPr>
        <p:spPr>
          <a:xfrm>
            <a:off x="718718" y="424190"/>
            <a:ext cx="1933042" cy="245974"/>
          </a:xfrm>
          <a:prstGeom prst="rect">
            <a:avLst/>
          </a:prstGeom>
          <a:noFill/>
          <a:ln/>
        </p:spPr>
        <p:txBody>
          <a:bodyPr wrap="square" lIns="91440" tIns="45720" rIns="91440" bIns="45720" rtlCol="0" anchor="t"/>
          <a:lstStyle/>
          <a:p>
            <a:pPr algn="l" indent="0" marL="0">
              <a:buNone/>
            </a:pPr>
            <a:r>
              <a:rPr lang="en-US" sz="1000" b="1" dirty="0">
                <a:solidFill>
                  <a:srgbClr val="404040"/>
                </a:solidFill>
                <a:latin typeface="Noto Sans SC" pitchFamily="34" charset="0"/>
                <a:ea typeface="Noto Sans SC" pitchFamily="34" charset="-122"/>
                <a:cs typeface="Noto Sans SC" pitchFamily="34" charset="-120"/>
              </a:rPr>
              <a:t>智能体社区研究</a:t>
            </a:r>
            <a:endParaRPr lang="en-US" sz="1000" dirty="0"/>
          </a:p>
        </p:txBody>
      </p:sp>
      <p:sp>
        <p:nvSpPr>
          <p:cNvPr id="13" name="Text 11"/>
          <p:cNvSpPr/>
          <p:nvPr/>
        </p:nvSpPr>
        <p:spPr>
          <a:xfrm>
            <a:off x="753466" y="6187653"/>
            <a:ext cx="1933042" cy="245974"/>
          </a:xfrm>
          <a:prstGeom prst="rect">
            <a:avLst/>
          </a:prstGeom>
          <a:noFill/>
          <a:ln/>
        </p:spPr>
        <p:txBody>
          <a:bodyPr wrap="square" lIns="91440" tIns="45720" rIns="91440" bIns="45720" rtlCol="0" anchor="t"/>
          <a:lstStyle/>
          <a:p>
            <a:pPr indent="0" marL="0">
              <a:buNone/>
            </a:pPr>
            <a:r>
              <a:rPr lang="en-US" sz="1000" b="1" dirty="0">
                <a:solidFill>
                  <a:srgbClr val="404040"/>
                </a:solidFill>
                <a:latin typeface="Noto Sans SC" pitchFamily="34" charset="0"/>
                <a:ea typeface="Noto Sans SC" pitchFamily="34" charset="-122"/>
                <a:cs typeface="Noto Sans SC" pitchFamily="34" charset="-120"/>
              </a:rPr>
              <a:t>论文</a:t>
            </a:r>
            <a:r>
              <a:rPr lang="en-US" sz="1000" dirty="0">
                <a:solidFill>
                  <a:srgbClr val="404040"/>
                </a:solidFill>
                <a:latin typeface="Noto Sans SC" pitchFamily="34" charset="0"/>
                <a:ea typeface="Noto Sans SC" pitchFamily="34" charset="-122"/>
                <a:cs typeface="Noto Sans SC" pitchFamily="34" charset="-120"/>
              </a:rPr>
              <a:t> 研讨</a:t>
            </a:r>
            <a:endParaRPr lang="en-US" sz="1000" dirty="0"/>
          </a:p>
        </p:txBody>
      </p:sp>
      <p:sp>
        <p:nvSpPr>
          <p:cNvPr id="14" name="Shape 12"/>
          <p:cNvSpPr/>
          <p:nvPr/>
        </p:nvSpPr>
        <p:spPr>
          <a:xfrm>
            <a:off x="2034814" y="6320790"/>
            <a:ext cx="445770" cy="0"/>
          </a:xfrm>
          <a:prstGeom prst="line">
            <a:avLst/>
          </a:prstGeom>
          <a:noFill/>
          <a:ln w="12700">
            <a:solidFill>
              <a:srgbClr val="0D0D0D"/>
            </a:solidFill>
            <a:prstDash val="solid"/>
          </a:ln>
        </p:spPr>
      </p:sp>
      <p:sp>
        <p:nvSpPr>
          <p:cNvPr id="15" name="Text 13"/>
          <p:cNvSpPr/>
          <p:nvPr/>
        </p:nvSpPr>
        <p:spPr>
          <a:xfrm>
            <a:off x="2400574" y="6197712"/>
            <a:ext cx="806501" cy="245974"/>
          </a:xfrm>
          <a:prstGeom prst="rect">
            <a:avLst/>
          </a:prstGeom>
          <a:noFill/>
          <a:ln/>
        </p:spPr>
        <p:txBody>
          <a:bodyPr wrap="square" lIns="91440" tIns="45720" rIns="91440" bIns="45720" rtlCol="0" anchor="t"/>
          <a:lstStyle/>
          <a:p>
            <a:pPr algn="r" indent="0" marL="0">
              <a:buNone/>
            </a:pPr>
            <a:r>
              <a:rPr lang="en-US" sz="1000" dirty="0" b="0">
                <a:solidFill>
                  <a:srgbClr val="102C57"/>
                </a:solidFill>
                <a:latin typeface="Noto Sans SC" pitchFamily="34" charset="0"/>
                <a:ea typeface="Noto Sans SC" pitchFamily="34" charset="-122"/>
                <a:cs typeface="Noto Sans SC" pitchFamily="34" charset="-120"/>
              </a:rPr>
              <a:t>共 16 页</a:t>
            </a:r>
          </a:p>
        </p:txBody>
      </p:sp>
      <p:sp>
        <p:nvSpPr>
          <p:cNvPr id="16" name="Text 14"/>
          <p:cNvSpPr/>
          <p:nvPr/>
        </p:nvSpPr>
        <p:spPr>
          <a:xfrm>
            <a:off x="10515600" y="6187653"/>
            <a:ext cx="1008949" cy="245974"/>
          </a:xfrm>
          <a:prstGeom prst="rect">
            <a:avLst/>
          </a:prstGeom>
          <a:noFill/>
          <a:ln/>
        </p:spPr>
        <p:txBody>
          <a:bodyPr wrap="square" lIns="91440" tIns="45720" rIns="91440" bIns="45720" rtlCol="0" anchor="t"/>
          <a:lstStyle/>
          <a:p>
            <a:pPr algn="r" indent="0" marL="0">
              <a:buNone/>
            </a:pPr>
            <a:r>
              <a:rPr lang="en-US" sz="1000" b="1" dirty="0">
                <a:solidFill>
                  <a:srgbClr val="262626"/>
                </a:solidFill>
                <a:latin typeface="Noto Sans SC" pitchFamily="34" charset="0"/>
                <a:ea typeface="Noto Sans SC" pitchFamily="34" charset="-122"/>
                <a:cs typeface="Noto Sans SC" pitchFamily="34" charset="-120"/>
              </a:rPr>
              <a:t>第 </a:t>
            </a:r>
            <a:r>
              <a:rPr lang="en-US" sz="1000" dirty="0">
                <a:solidFill>
                  <a:srgbClr val="262626"/>
                </a:solidFill>
                <a:latin typeface="Noto Sans SC" pitchFamily="34" charset="0"/>
                <a:ea typeface="Noto Sans SC" pitchFamily="34" charset="-122"/>
                <a:cs typeface="Noto Sans SC" pitchFamily="34" charset="-120"/>
              </a:rPr>
              <a:t>15/16</a:t>
            </a:r>
            <a:endParaRPr lang="en-US" sz="1000" dirty="0"/>
          </a:p>
        </p:txBody>
      </p:sp>
      <p:sp>
        <p:nvSpPr>
          <p:cNvPr id="30" name="Heading"/>
          <p:cNvSpPr/>
          <p:nvPr/>
        </p:nvSpPr>
        <p:spPr>
          <a:xfrm>
            <a:off x="718718" y="777240"/>
            <a:ext cx="4937760" cy="640080"/>
          </a:xfrm>
          <a:prstGeom prst="rect">
            <a:avLst/>
          </a:prstGeom>
          <a:noFill/>
          <a:ln/>
        </p:spPr>
        <p:txBody>
          <a:bodyPr wrap="square" lIns="91440" tIns="45720" rIns="91440" bIns="45720" rtlCol="0" anchor="t"/>
          <a:lstStyle/>
          <a:p>
            <a:pPr algn="l" indent="0" marL="0">
              <a:lnSpc>
                <a:spcPct val="100000"/>
              </a:lnSpc>
              <a:buNone/>
            </a:pPr>
            <a:r>
              <a:rPr lang="en-US" sz="3000" dirty="0" b="0">
                <a:solidFill>
                  <a:srgbClr val="0D0D0D"/>
                </a:solidFill>
                <a:latin typeface="Noto Sans SC" pitchFamily="34" charset="0"/>
                <a:ea typeface="Noto Sans SC" pitchFamily="34" charset="-122"/>
                <a:cs typeface="Noto Sans SC" pitchFamily="34" charset="-120"/>
              </a:rPr>
              <a:t>P4 方法：数据与统计工具</a:t>
            </a:r>
          </a:p>
        </p:txBody>
      </p:sp>
      <p:sp>
        <p:nvSpPr>
          <p:cNvPr id="40" name="Formula label"/>
          <p:cNvSpPr/>
          <p:nvPr/>
        </p:nvSpPr>
        <p:spPr>
          <a:xfrm>
            <a:off x="6035040" y="1051560"/>
            <a:ext cx="5303520" cy="274320"/>
          </a:xfrm>
          <a:prstGeom prst="rect">
            <a:avLst/>
          </a:prstGeom>
          <a:noFill/>
          <a:ln/>
        </p:spPr>
        <p:txBody>
          <a:bodyPr wrap="square" lIns="91440" tIns="45720" rIns="91440" bIns="45720" rtlCol="0" anchor="t"/>
          <a:lstStyle/>
          <a:p>
            <a:pPr algn="l" indent="0" marL="0">
              <a:buNone/>
            </a:pPr>
            <a:r>
              <a:rPr lang="en-US" sz="1200" dirty="0" b="1">
                <a:solidFill>
                  <a:srgbClr val="102C57"/>
                </a:solidFill>
                <a:latin typeface="Noto Sans SC" pitchFamily="34" charset="0"/>
                <a:ea typeface="Noto Sans SC" pitchFamily="34" charset="-122"/>
                <a:cs typeface="Noto Sans SC" pitchFamily="34" charset="-120"/>
              </a:rPr>
              <a:t>所用公式（* 为补充的标准写法）</a:t>
            </a:r>
          </a:p>
        </p:txBody>
      </p:sp>
      <p:pic>
        <p:nvPicPr>
          <p:cNvPr id="50" name="Formula 1" descr="formula p4eq1"/>
          <p:cNvPicPr>
            <a:picLocks noChangeAspect="1"/>
          </p:cNvPicPr>
          <p:nvPr/>
        </p:nvPicPr>
        <p:blipFill>
          <a:blip r:embed="rIdG5p4eq1"/>
          <a:stretch>
            <a:fillRect/>
          </a:stretch>
        </p:blipFill>
        <p:spPr>
          <a:xfrm>
            <a:off x="6035040" y="1724375"/>
            <a:ext cx="2179198" cy="254568"/>
          </a:xfrm>
          <a:prstGeom prst="rect">
            <a:avLst/>
          </a:prstGeom>
        </p:spPr>
      </p:pic>
      <p:sp>
        <p:nvSpPr>
          <p:cNvPr id="60" name="Formula caption 1"/>
          <p:cNvSpPr/>
          <p:nvPr/>
        </p:nvSpPr>
        <p:spPr>
          <a:xfrm>
            <a:off x="8503920" y="1371600"/>
            <a:ext cx="2880360" cy="960120"/>
          </a:xfrm>
          <a:prstGeom prst="rect">
            <a:avLst/>
          </a:prstGeom>
          <a:noFill/>
          <a:ln/>
        </p:spPr>
        <p:txBody>
          <a:bodyPr wrap="square" lIns="91440" tIns="45720" rIns="91440" bIns="45720" rtlCol="0" anchor="ctr"/>
          <a:lstStyle/>
          <a:p>
            <a:pPr algn="l" indent="0" marL="0">
              <a:lnSpc>
                <a:spcPct val="100000"/>
              </a:lnSpc>
              <a:buNone/>
            </a:pPr>
            <a:r>
              <a:rPr lang="en-US" sz="1400" dirty="0" b="0">
                <a:solidFill>
                  <a:srgbClr val="404040"/>
                </a:solidFill>
                <a:latin typeface="Noto Sans SC" pitchFamily="34" charset="0"/>
                <a:ea typeface="Noto Sans SC" pitchFamily="34" charset="-122"/>
                <a:cs typeface="Noto Sans SC" pitchFamily="34" charset="-120"/>
              </a:rPr>
              <a:t>幂律尾*：</a:t>
            </a:r>
          </a:p>
          <a:p>
            <a:pPr algn="l" indent="0" marL="0">
              <a:lnSpc>
                <a:spcPct val="100000"/>
              </a:lnSpc>
              <a:buNone/>
            </a:pPr>
            <a:r>
              <a:rPr lang="en-US" sz="1400" dirty="0" b="0">
                <a:solidFill>
                  <a:srgbClr val="404040"/>
                </a:solidFill>
                <a:latin typeface="Noto Sans SC" pitchFamily="34" charset="0"/>
                <a:ea typeface="Noto Sans SC" pitchFamily="34" charset="-122"/>
                <a:cs typeface="Noto Sans SC" pitchFamily="34" charset="-120"/>
              </a:rPr>
              <a:t>评论/帖 α = 2.22</a:t>
            </a:r>
          </a:p>
          <a:p>
            <a:pPr algn="l" indent="0" marL="0">
              <a:lnSpc>
                <a:spcPct val="100000"/>
              </a:lnSpc>
              <a:buNone/>
            </a:pPr>
            <a:r>
              <a:rPr lang="en-US" sz="1400" dirty="0" b="0">
                <a:solidFill>
                  <a:srgbClr val="404040"/>
                </a:solidFill>
                <a:latin typeface="Noto Sans SC" pitchFamily="34" charset="0"/>
                <a:ea typeface="Noto Sans SC" pitchFamily="34" charset="-122"/>
                <a:cs typeface="Noto Sans SC" pitchFamily="34" charset="-120"/>
              </a:rPr>
              <a:t>帖/submolt α = 1.54</a:t>
            </a:r>
          </a:p>
          <a:p>
            <a:pPr algn="l" indent="0" marL="0">
              <a:lnSpc>
                <a:spcPct val="100000"/>
              </a:lnSpc>
              <a:buNone/>
            </a:pPr>
            <a:r>
              <a:rPr lang="en-US" sz="1400" dirty="0" b="0">
                <a:solidFill>
                  <a:srgbClr val="404040"/>
                </a:solidFill>
                <a:latin typeface="Noto Sans SC" pitchFamily="34" charset="0"/>
                <a:ea typeface="Noto Sans SC" pitchFamily="34" charset="-122"/>
                <a:cs typeface="Noto Sans SC" pitchFamily="34" charset="-120"/>
              </a:rPr>
              <a:t>订阅/submolt α = 2.40</a:t>
            </a:r>
          </a:p>
        </p:txBody>
      </p:sp>
      <p:pic>
        <p:nvPicPr>
          <p:cNvPr id="51" name="Formula 2" descr="formula p4eq2"/>
          <p:cNvPicPr>
            <a:picLocks noChangeAspect="1"/>
          </p:cNvPicPr>
          <p:nvPr/>
        </p:nvPicPr>
        <p:blipFill>
          <a:blip r:embed="rIdG5p4eq2"/>
          <a:stretch>
            <a:fillRect/>
          </a:stretch>
        </p:blipFill>
        <p:spPr>
          <a:xfrm>
            <a:off x="6035040" y="2601833"/>
            <a:ext cx="1922434" cy="291876"/>
          </a:xfrm>
          <a:prstGeom prst="rect">
            <a:avLst/>
          </a:prstGeom>
        </p:spPr>
      </p:pic>
      <p:sp>
        <p:nvSpPr>
          <p:cNvPr id="61" name="Formula caption 2"/>
          <p:cNvSpPr/>
          <p:nvPr/>
        </p:nvSpPr>
        <p:spPr>
          <a:xfrm>
            <a:off x="8503920" y="2359152"/>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CCDF*：论文用 CCDF 作图，幂律对应的 CCDF 斜率为 α − 1</a:t>
            </a:r>
          </a:p>
        </p:txBody>
      </p:sp>
      <p:pic>
        <p:nvPicPr>
          <p:cNvPr id="52" name="Formula 3" descr="formula p4eq3"/>
          <p:cNvPicPr>
            <a:picLocks noChangeAspect="1"/>
          </p:cNvPicPr>
          <p:nvPr/>
        </p:nvPicPr>
        <p:blipFill>
          <a:blip r:embed="rIdG5p4eq3"/>
          <a:stretch>
            <a:fillRect/>
          </a:stretch>
        </p:blipFill>
        <p:spPr>
          <a:xfrm>
            <a:off x="6035040" y="3494653"/>
            <a:ext cx="963411" cy="298460"/>
          </a:xfrm>
          <a:prstGeom prst="rect">
            <a:avLst/>
          </a:prstGeom>
        </p:spPr>
      </p:pic>
      <p:sp>
        <p:nvSpPr>
          <p:cNvPr id="62" name="Formula caption 3"/>
          <p:cNvSpPr/>
          <p:nvPr/>
        </p:nvSpPr>
        <p:spPr>
          <a:xfrm>
            <a:off x="8503920" y="3255264"/>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标度关系*：点赞 β ≈ 0.79（Reddit ≈ 1），直接回复 β ≈ 1.03；n 为讨论规模</a:t>
            </a:r>
          </a:p>
        </p:txBody>
      </p:sp>
      <p:pic>
        <p:nvPicPr>
          <p:cNvPr id="53" name="Formula 4" descr="formula p4eq4"/>
          <p:cNvPicPr>
            <a:picLocks noChangeAspect="1"/>
          </p:cNvPicPr>
          <p:nvPr/>
        </p:nvPicPr>
        <p:blipFill>
          <a:blip r:embed="rIdG5p4eq4"/>
          <a:stretch>
            <a:fillRect/>
          </a:stretch>
        </p:blipFill>
        <p:spPr>
          <a:xfrm>
            <a:off x="6035040" y="4295302"/>
            <a:ext cx="1689811" cy="489386"/>
          </a:xfrm>
          <a:prstGeom prst="rect">
            <a:avLst/>
          </a:prstGeom>
        </p:spPr>
      </p:pic>
      <p:sp>
        <p:nvSpPr>
          <p:cNvPr id="63" name="Formula caption 4"/>
          <p:cNvSpPr/>
          <p:nvPr/>
        </p:nvSpPr>
        <p:spPr>
          <a:xfrm>
            <a:off x="8503920" y="4151376"/>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讨论树：d 为深度、w 为宽度、n 为评论数（论文拟合式）</a:t>
            </a:r>
          </a:p>
        </p:txBody>
      </p:sp>
      <p:pic>
        <p:nvPicPr>
          <p:cNvPr id="54" name="Formula 5" descr="formula p4eq5"/>
          <p:cNvPicPr>
            <a:picLocks noChangeAspect="1"/>
          </p:cNvPicPr>
          <p:nvPr/>
        </p:nvPicPr>
        <p:blipFill>
          <a:blip r:embed="rIdG5p4eq5"/>
          <a:stretch>
            <a:fillRect/>
          </a:stretch>
        </p:blipFill>
        <p:spPr>
          <a:xfrm>
            <a:off x="6035040" y="5163982"/>
            <a:ext cx="2293315" cy="544250"/>
          </a:xfrm>
          <a:prstGeom prst="rect">
            <a:avLst/>
          </a:prstGeom>
        </p:spPr>
      </p:pic>
      <p:sp>
        <p:nvSpPr>
          <p:cNvPr id="64" name="Formula caption 5"/>
          <p:cNvSpPr/>
          <p:nvPr/>
        </p:nvSpPr>
        <p:spPr>
          <a:xfrm>
            <a:off x="8503920" y="5047488"/>
            <a:ext cx="2880360" cy="822960"/>
          </a:xfrm>
          <a:prstGeom prst="rect">
            <a:avLst/>
          </a:prstGeom>
          <a:noFill/>
          <a:ln/>
        </p:spPr>
        <p:txBody>
          <a:bodyPr wrap="square" lIns="91440" tIns="45720" rIns="91440" bIns="45720" rtlCol="0" anchor="ctr"/>
          <a:lstStyle/>
          <a:p>
            <a:pPr algn="l" indent="0" marL="0">
              <a:lnSpc>
                <a:spcPct val="105000"/>
              </a:lnSpc>
              <a:buNone/>
            </a:pPr>
            <a:r>
              <a:rPr lang="en-US" sz="1400" dirty="0" b="0">
                <a:solidFill>
                  <a:srgbClr val="404040"/>
                </a:solidFill>
                <a:latin typeface="Noto Sans SC" pitchFamily="34" charset="0"/>
                <a:ea typeface="Noto Sans SC" pitchFamily="34" charset="-122"/>
                <a:cs typeface="Noto Sans SC" pitchFamily="34" charset="-120"/>
              </a:rPr>
              <a:t>衰减因子（论文 Eq. 1）：Δt = 30 分钟，γ(t) ∝ t^−1.23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SC"/>
        <a:ea typeface="Noto Sans SC"/>
        <a:cs typeface=""/>
        <a:font script="Jpan" typeface="游ゴシック Light"/>
        <a:font script="Hang" typeface="맑은 고딕"/>
        <a:font script="Hans" typeface="Noto Sans SC"/>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SC"/>
        <a:ea typeface="Noto Sans SC"/>
        <a:cs typeface=""/>
        <a:font script="Jpan" typeface="游ゴシック"/>
        <a:font script="Hang" typeface="맑은 고딕"/>
        <a:font script="Hans" typeface="Noto Sans SC"/>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2026-10-22T05:41:13Z</dcterms:created>
  <dcterms:modified xsi:type="dcterms:W3CDTF">2026-10-22T05:41:13Z</dcterms:modified>
</cp:coreProperties>
</file>